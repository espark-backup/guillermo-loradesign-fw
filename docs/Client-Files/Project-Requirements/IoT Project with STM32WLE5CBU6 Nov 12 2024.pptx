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7" r:id="rId4"/>
    <p:sldId id="259" r:id="rId5"/>
    <p:sldId id="264" r:id="rId6"/>
    <p:sldId id="265"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0" autoAdjust="0"/>
    <p:restoredTop sz="94660"/>
  </p:normalViewPr>
  <p:slideViewPr>
    <p:cSldViewPr snapToGrid="0">
      <p:cViewPr>
        <p:scale>
          <a:sx n="150" d="100"/>
          <a:sy n="150" d="100"/>
        </p:scale>
        <p:origin x="5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1601A-D0B9-551C-BB6E-7D0B4E04C8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3C4C29F-3F64-F7EF-9E0D-C2E922A294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0B4E49-06BB-801D-1A84-09CEDE58A893}"/>
              </a:ext>
            </a:extLst>
          </p:cNvPr>
          <p:cNvSpPr>
            <a:spLocks noGrp="1"/>
          </p:cNvSpPr>
          <p:nvPr>
            <p:ph type="dt" sz="half" idx="10"/>
          </p:nvPr>
        </p:nvSpPr>
        <p:spPr/>
        <p:txBody>
          <a:bodyPr/>
          <a:lstStyle/>
          <a:p>
            <a:fld id="{6E42F760-99FC-454E-AC88-A9960E843512}" type="datetimeFigureOut">
              <a:rPr lang="en-US" smtClean="0"/>
              <a:t>12-Nov-24</a:t>
            </a:fld>
            <a:endParaRPr lang="en-US"/>
          </a:p>
        </p:txBody>
      </p:sp>
      <p:sp>
        <p:nvSpPr>
          <p:cNvPr id="5" name="Footer Placeholder 4">
            <a:extLst>
              <a:ext uri="{FF2B5EF4-FFF2-40B4-BE49-F238E27FC236}">
                <a16:creationId xmlns:a16="http://schemas.microsoft.com/office/drawing/2014/main" id="{2A052A8A-9759-263D-E2B7-55270EB262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D47032-D58C-98FD-4F6A-255150BC9616}"/>
              </a:ext>
            </a:extLst>
          </p:cNvPr>
          <p:cNvSpPr>
            <a:spLocks noGrp="1"/>
          </p:cNvSpPr>
          <p:nvPr>
            <p:ph type="sldNum" sz="quarter" idx="12"/>
          </p:nvPr>
        </p:nvSpPr>
        <p:spPr/>
        <p:txBody>
          <a:bodyPr/>
          <a:lstStyle/>
          <a:p>
            <a:fld id="{E278EE51-A209-43F9-B03A-FC31F3134639}" type="slidenum">
              <a:rPr lang="en-US" smtClean="0"/>
              <a:t>‹#›</a:t>
            </a:fld>
            <a:endParaRPr lang="en-US"/>
          </a:p>
        </p:txBody>
      </p:sp>
    </p:spTree>
    <p:extLst>
      <p:ext uri="{BB962C8B-B14F-4D97-AF65-F5344CB8AC3E}">
        <p14:creationId xmlns:p14="http://schemas.microsoft.com/office/powerpoint/2010/main" val="1111678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99169-6FA9-7B2B-4CE5-7D010B03FE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F2D8E4-BFDD-C816-E6D9-19BC4DEAED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5C431B-0942-9E2D-E009-8658AF7B5B19}"/>
              </a:ext>
            </a:extLst>
          </p:cNvPr>
          <p:cNvSpPr>
            <a:spLocks noGrp="1"/>
          </p:cNvSpPr>
          <p:nvPr>
            <p:ph type="dt" sz="half" idx="10"/>
          </p:nvPr>
        </p:nvSpPr>
        <p:spPr/>
        <p:txBody>
          <a:bodyPr/>
          <a:lstStyle/>
          <a:p>
            <a:fld id="{6E42F760-99FC-454E-AC88-A9960E843512}" type="datetimeFigureOut">
              <a:rPr lang="en-US" smtClean="0"/>
              <a:t>12-Nov-24</a:t>
            </a:fld>
            <a:endParaRPr lang="en-US"/>
          </a:p>
        </p:txBody>
      </p:sp>
      <p:sp>
        <p:nvSpPr>
          <p:cNvPr id="5" name="Footer Placeholder 4">
            <a:extLst>
              <a:ext uri="{FF2B5EF4-FFF2-40B4-BE49-F238E27FC236}">
                <a16:creationId xmlns:a16="http://schemas.microsoft.com/office/drawing/2014/main" id="{02221B6A-7629-9D3B-B968-8974966271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64E02A-E868-AA92-06B1-0E27A7F3A8CC}"/>
              </a:ext>
            </a:extLst>
          </p:cNvPr>
          <p:cNvSpPr>
            <a:spLocks noGrp="1"/>
          </p:cNvSpPr>
          <p:nvPr>
            <p:ph type="sldNum" sz="quarter" idx="12"/>
          </p:nvPr>
        </p:nvSpPr>
        <p:spPr/>
        <p:txBody>
          <a:bodyPr/>
          <a:lstStyle/>
          <a:p>
            <a:fld id="{E278EE51-A209-43F9-B03A-FC31F3134639}" type="slidenum">
              <a:rPr lang="en-US" smtClean="0"/>
              <a:t>‹#›</a:t>
            </a:fld>
            <a:endParaRPr lang="en-US"/>
          </a:p>
        </p:txBody>
      </p:sp>
    </p:spTree>
    <p:extLst>
      <p:ext uri="{BB962C8B-B14F-4D97-AF65-F5344CB8AC3E}">
        <p14:creationId xmlns:p14="http://schemas.microsoft.com/office/powerpoint/2010/main" val="545968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52B2B-FBD2-B9B6-3C66-41531F317B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A97EAB-2181-FA15-ABCF-5F05FF5FC4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254B94-80D3-2673-9BBF-75A0B5D77F3D}"/>
              </a:ext>
            </a:extLst>
          </p:cNvPr>
          <p:cNvSpPr>
            <a:spLocks noGrp="1"/>
          </p:cNvSpPr>
          <p:nvPr>
            <p:ph type="dt" sz="half" idx="10"/>
          </p:nvPr>
        </p:nvSpPr>
        <p:spPr/>
        <p:txBody>
          <a:bodyPr/>
          <a:lstStyle/>
          <a:p>
            <a:fld id="{6E42F760-99FC-454E-AC88-A9960E843512}" type="datetimeFigureOut">
              <a:rPr lang="en-US" smtClean="0"/>
              <a:t>12-Nov-24</a:t>
            </a:fld>
            <a:endParaRPr lang="en-US"/>
          </a:p>
        </p:txBody>
      </p:sp>
      <p:sp>
        <p:nvSpPr>
          <p:cNvPr id="5" name="Footer Placeholder 4">
            <a:extLst>
              <a:ext uri="{FF2B5EF4-FFF2-40B4-BE49-F238E27FC236}">
                <a16:creationId xmlns:a16="http://schemas.microsoft.com/office/drawing/2014/main" id="{5FA43D5B-80EF-6399-236C-E86357CE3A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3A4764-0C4A-4A7E-B06B-0C30355C30BD}"/>
              </a:ext>
            </a:extLst>
          </p:cNvPr>
          <p:cNvSpPr>
            <a:spLocks noGrp="1"/>
          </p:cNvSpPr>
          <p:nvPr>
            <p:ph type="sldNum" sz="quarter" idx="12"/>
          </p:nvPr>
        </p:nvSpPr>
        <p:spPr/>
        <p:txBody>
          <a:bodyPr/>
          <a:lstStyle/>
          <a:p>
            <a:fld id="{E278EE51-A209-43F9-B03A-FC31F3134639}" type="slidenum">
              <a:rPr lang="en-US" smtClean="0"/>
              <a:t>‹#›</a:t>
            </a:fld>
            <a:endParaRPr lang="en-US"/>
          </a:p>
        </p:txBody>
      </p:sp>
    </p:spTree>
    <p:extLst>
      <p:ext uri="{BB962C8B-B14F-4D97-AF65-F5344CB8AC3E}">
        <p14:creationId xmlns:p14="http://schemas.microsoft.com/office/powerpoint/2010/main" val="894571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834A2-4A5A-4B24-B0F5-C58A9C985D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10D2B2-61CA-0F76-A4CD-AE714AC1C8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5F687D8-EF91-CF73-E046-6AD1311908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CB23CB-6545-2767-C04F-59B8345EF02A}"/>
              </a:ext>
            </a:extLst>
          </p:cNvPr>
          <p:cNvSpPr>
            <a:spLocks noGrp="1"/>
          </p:cNvSpPr>
          <p:nvPr>
            <p:ph type="dt" sz="half" idx="10"/>
          </p:nvPr>
        </p:nvSpPr>
        <p:spPr/>
        <p:txBody>
          <a:bodyPr/>
          <a:lstStyle/>
          <a:p>
            <a:fld id="{6E42F760-99FC-454E-AC88-A9960E843512}" type="datetimeFigureOut">
              <a:rPr lang="en-US" smtClean="0"/>
              <a:t>12-Nov-24</a:t>
            </a:fld>
            <a:endParaRPr lang="en-US"/>
          </a:p>
        </p:txBody>
      </p:sp>
      <p:sp>
        <p:nvSpPr>
          <p:cNvPr id="6" name="Footer Placeholder 5">
            <a:extLst>
              <a:ext uri="{FF2B5EF4-FFF2-40B4-BE49-F238E27FC236}">
                <a16:creationId xmlns:a16="http://schemas.microsoft.com/office/drawing/2014/main" id="{548C6CE5-DB2D-64ED-0F78-15D7DA5434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DE98B9-F4A6-61B7-78BA-FDFEC5B2E0EF}"/>
              </a:ext>
            </a:extLst>
          </p:cNvPr>
          <p:cNvSpPr>
            <a:spLocks noGrp="1"/>
          </p:cNvSpPr>
          <p:nvPr>
            <p:ph type="sldNum" sz="quarter" idx="12"/>
          </p:nvPr>
        </p:nvSpPr>
        <p:spPr/>
        <p:txBody>
          <a:bodyPr/>
          <a:lstStyle/>
          <a:p>
            <a:fld id="{E278EE51-A209-43F9-B03A-FC31F3134639}" type="slidenum">
              <a:rPr lang="en-US" smtClean="0"/>
              <a:t>‹#›</a:t>
            </a:fld>
            <a:endParaRPr lang="en-US"/>
          </a:p>
        </p:txBody>
      </p:sp>
    </p:spTree>
    <p:extLst>
      <p:ext uri="{BB962C8B-B14F-4D97-AF65-F5344CB8AC3E}">
        <p14:creationId xmlns:p14="http://schemas.microsoft.com/office/powerpoint/2010/main" val="3195109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2DAB1-8EF0-8EED-8553-32E1114692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A5BBA6-CA58-F284-AA9C-DCF8A10D61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C44571-9E5E-7D2B-2096-9F3B4801D0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C2FA3D-98C4-4467-A07D-2658AF2F85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8EFFF9-EA16-94AE-F23D-5F375559B1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6C171C-5AF5-58FA-FE7D-8AA28FD5B386}"/>
              </a:ext>
            </a:extLst>
          </p:cNvPr>
          <p:cNvSpPr>
            <a:spLocks noGrp="1"/>
          </p:cNvSpPr>
          <p:nvPr>
            <p:ph type="dt" sz="half" idx="10"/>
          </p:nvPr>
        </p:nvSpPr>
        <p:spPr/>
        <p:txBody>
          <a:bodyPr/>
          <a:lstStyle/>
          <a:p>
            <a:fld id="{6E42F760-99FC-454E-AC88-A9960E843512}" type="datetimeFigureOut">
              <a:rPr lang="en-US" smtClean="0"/>
              <a:t>12-Nov-24</a:t>
            </a:fld>
            <a:endParaRPr lang="en-US"/>
          </a:p>
        </p:txBody>
      </p:sp>
      <p:sp>
        <p:nvSpPr>
          <p:cNvPr id="8" name="Footer Placeholder 7">
            <a:extLst>
              <a:ext uri="{FF2B5EF4-FFF2-40B4-BE49-F238E27FC236}">
                <a16:creationId xmlns:a16="http://schemas.microsoft.com/office/drawing/2014/main" id="{20292550-CB72-47D9-49FE-7A8DC5426D6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CF51F7-61FF-745B-5CFD-6821170BCBED}"/>
              </a:ext>
            </a:extLst>
          </p:cNvPr>
          <p:cNvSpPr>
            <a:spLocks noGrp="1"/>
          </p:cNvSpPr>
          <p:nvPr>
            <p:ph type="sldNum" sz="quarter" idx="12"/>
          </p:nvPr>
        </p:nvSpPr>
        <p:spPr/>
        <p:txBody>
          <a:bodyPr/>
          <a:lstStyle/>
          <a:p>
            <a:fld id="{E278EE51-A209-43F9-B03A-FC31F3134639}" type="slidenum">
              <a:rPr lang="en-US" smtClean="0"/>
              <a:t>‹#›</a:t>
            </a:fld>
            <a:endParaRPr lang="en-US"/>
          </a:p>
        </p:txBody>
      </p:sp>
    </p:spTree>
    <p:extLst>
      <p:ext uri="{BB962C8B-B14F-4D97-AF65-F5344CB8AC3E}">
        <p14:creationId xmlns:p14="http://schemas.microsoft.com/office/powerpoint/2010/main" val="1268683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B01D0-05DF-3A33-B6CC-2B9583359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E7B000-AF2B-7D2B-50C7-BCD20814137A}"/>
              </a:ext>
            </a:extLst>
          </p:cNvPr>
          <p:cNvSpPr>
            <a:spLocks noGrp="1"/>
          </p:cNvSpPr>
          <p:nvPr>
            <p:ph type="dt" sz="half" idx="10"/>
          </p:nvPr>
        </p:nvSpPr>
        <p:spPr/>
        <p:txBody>
          <a:bodyPr/>
          <a:lstStyle/>
          <a:p>
            <a:fld id="{6E42F760-99FC-454E-AC88-A9960E843512}" type="datetimeFigureOut">
              <a:rPr lang="en-US" smtClean="0"/>
              <a:t>12-Nov-24</a:t>
            </a:fld>
            <a:endParaRPr lang="en-US"/>
          </a:p>
        </p:txBody>
      </p:sp>
      <p:sp>
        <p:nvSpPr>
          <p:cNvPr id="4" name="Footer Placeholder 3">
            <a:extLst>
              <a:ext uri="{FF2B5EF4-FFF2-40B4-BE49-F238E27FC236}">
                <a16:creationId xmlns:a16="http://schemas.microsoft.com/office/drawing/2014/main" id="{7EB24EDE-2EB7-DD56-FFB5-211FED34003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608878-FD1D-4F29-859A-6B461C8F96F5}"/>
              </a:ext>
            </a:extLst>
          </p:cNvPr>
          <p:cNvSpPr>
            <a:spLocks noGrp="1"/>
          </p:cNvSpPr>
          <p:nvPr>
            <p:ph type="sldNum" sz="quarter" idx="12"/>
          </p:nvPr>
        </p:nvSpPr>
        <p:spPr/>
        <p:txBody>
          <a:bodyPr/>
          <a:lstStyle/>
          <a:p>
            <a:fld id="{E278EE51-A209-43F9-B03A-FC31F3134639}" type="slidenum">
              <a:rPr lang="en-US" smtClean="0"/>
              <a:t>‹#›</a:t>
            </a:fld>
            <a:endParaRPr lang="en-US"/>
          </a:p>
        </p:txBody>
      </p:sp>
    </p:spTree>
    <p:extLst>
      <p:ext uri="{BB962C8B-B14F-4D97-AF65-F5344CB8AC3E}">
        <p14:creationId xmlns:p14="http://schemas.microsoft.com/office/powerpoint/2010/main" val="1538984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0A883A-2444-5743-890F-A74CFB7AAD1D}"/>
              </a:ext>
            </a:extLst>
          </p:cNvPr>
          <p:cNvSpPr>
            <a:spLocks noGrp="1"/>
          </p:cNvSpPr>
          <p:nvPr>
            <p:ph type="dt" sz="half" idx="10"/>
          </p:nvPr>
        </p:nvSpPr>
        <p:spPr/>
        <p:txBody>
          <a:bodyPr/>
          <a:lstStyle/>
          <a:p>
            <a:fld id="{6E42F760-99FC-454E-AC88-A9960E843512}" type="datetimeFigureOut">
              <a:rPr lang="en-US" smtClean="0"/>
              <a:t>12-Nov-24</a:t>
            </a:fld>
            <a:endParaRPr lang="en-US"/>
          </a:p>
        </p:txBody>
      </p:sp>
      <p:sp>
        <p:nvSpPr>
          <p:cNvPr id="3" name="Footer Placeholder 2">
            <a:extLst>
              <a:ext uri="{FF2B5EF4-FFF2-40B4-BE49-F238E27FC236}">
                <a16:creationId xmlns:a16="http://schemas.microsoft.com/office/drawing/2014/main" id="{0C4A7D11-3A00-90BB-CA65-694D2F5296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C94452-1CEF-FF2D-A158-4CCDF664E4B3}"/>
              </a:ext>
            </a:extLst>
          </p:cNvPr>
          <p:cNvSpPr>
            <a:spLocks noGrp="1"/>
          </p:cNvSpPr>
          <p:nvPr>
            <p:ph type="sldNum" sz="quarter" idx="12"/>
          </p:nvPr>
        </p:nvSpPr>
        <p:spPr/>
        <p:txBody>
          <a:bodyPr/>
          <a:lstStyle/>
          <a:p>
            <a:fld id="{E278EE51-A209-43F9-B03A-FC31F3134639}" type="slidenum">
              <a:rPr lang="en-US" smtClean="0"/>
              <a:t>‹#›</a:t>
            </a:fld>
            <a:endParaRPr lang="en-US"/>
          </a:p>
        </p:txBody>
      </p:sp>
    </p:spTree>
    <p:extLst>
      <p:ext uri="{BB962C8B-B14F-4D97-AF65-F5344CB8AC3E}">
        <p14:creationId xmlns:p14="http://schemas.microsoft.com/office/powerpoint/2010/main" val="411882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A7551-DA60-495D-58B1-B979A29D97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2E93AEB-5E25-DA70-5D76-F072F5EA65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A863E1-B347-DC91-DA30-25C956CA1A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F0A384-9DF4-249C-E68B-ACC7509E8E2B}"/>
              </a:ext>
            </a:extLst>
          </p:cNvPr>
          <p:cNvSpPr>
            <a:spLocks noGrp="1"/>
          </p:cNvSpPr>
          <p:nvPr>
            <p:ph type="dt" sz="half" idx="10"/>
          </p:nvPr>
        </p:nvSpPr>
        <p:spPr/>
        <p:txBody>
          <a:bodyPr/>
          <a:lstStyle/>
          <a:p>
            <a:fld id="{6E42F760-99FC-454E-AC88-A9960E843512}" type="datetimeFigureOut">
              <a:rPr lang="en-US" smtClean="0"/>
              <a:t>12-Nov-24</a:t>
            </a:fld>
            <a:endParaRPr lang="en-US"/>
          </a:p>
        </p:txBody>
      </p:sp>
      <p:sp>
        <p:nvSpPr>
          <p:cNvPr id="6" name="Footer Placeholder 5">
            <a:extLst>
              <a:ext uri="{FF2B5EF4-FFF2-40B4-BE49-F238E27FC236}">
                <a16:creationId xmlns:a16="http://schemas.microsoft.com/office/drawing/2014/main" id="{336FC7A7-CA8B-9286-5039-F597CB7086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2800DD-D9C3-375E-236D-606CA6912C46}"/>
              </a:ext>
            </a:extLst>
          </p:cNvPr>
          <p:cNvSpPr>
            <a:spLocks noGrp="1"/>
          </p:cNvSpPr>
          <p:nvPr>
            <p:ph type="sldNum" sz="quarter" idx="12"/>
          </p:nvPr>
        </p:nvSpPr>
        <p:spPr/>
        <p:txBody>
          <a:bodyPr/>
          <a:lstStyle/>
          <a:p>
            <a:fld id="{E278EE51-A209-43F9-B03A-FC31F3134639}" type="slidenum">
              <a:rPr lang="en-US" smtClean="0"/>
              <a:t>‹#›</a:t>
            </a:fld>
            <a:endParaRPr lang="en-US"/>
          </a:p>
        </p:txBody>
      </p:sp>
    </p:spTree>
    <p:extLst>
      <p:ext uri="{BB962C8B-B14F-4D97-AF65-F5344CB8AC3E}">
        <p14:creationId xmlns:p14="http://schemas.microsoft.com/office/powerpoint/2010/main" val="598531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92824-9A89-7C8E-CA82-77AD165AF7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2FAB0D-70F9-4DD6-CCF5-555AA21FB5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ADA7023-C604-A105-FD41-AE0B7E1240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BEE47D-5EB4-29B9-DFE6-0DAE36AB9A64}"/>
              </a:ext>
            </a:extLst>
          </p:cNvPr>
          <p:cNvSpPr>
            <a:spLocks noGrp="1"/>
          </p:cNvSpPr>
          <p:nvPr>
            <p:ph type="dt" sz="half" idx="10"/>
          </p:nvPr>
        </p:nvSpPr>
        <p:spPr/>
        <p:txBody>
          <a:bodyPr/>
          <a:lstStyle/>
          <a:p>
            <a:fld id="{6E42F760-99FC-454E-AC88-A9960E843512}" type="datetimeFigureOut">
              <a:rPr lang="en-US" smtClean="0"/>
              <a:t>12-Nov-24</a:t>
            </a:fld>
            <a:endParaRPr lang="en-US"/>
          </a:p>
        </p:txBody>
      </p:sp>
      <p:sp>
        <p:nvSpPr>
          <p:cNvPr id="6" name="Footer Placeholder 5">
            <a:extLst>
              <a:ext uri="{FF2B5EF4-FFF2-40B4-BE49-F238E27FC236}">
                <a16:creationId xmlns:a16="http://schemas.microsoft.com/office/drawing/2014/main" id="{AA675C2D-6317-FF75-F68C-2652716874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5DD454-F443-5EBB-7F3B-75EA289ED5A2}"/>
              </a:ext>
            </a:extLst>
          </p:cNvPr>
          <p:cNvSpPr>
            <a:spLocks noGrp="1"/>
          </p:cNvSpPr>
          <p:nvPr>
            <p:ph type="sldNum" sz="quarter" idx="12"/>
          </p:nvPr>
        </p:nvSpPr>
        <p:spPr/>
        <p:txBody>
          <a:bodyPr/>
          <a:lstStyle/>
          <a:p>
            <a:fld id="{E278EE51-A209-43F9-B03A-FC31F3134639}" type="slidenum">
              <a:rPr lang="en-US" smtClean="0"/>
              <a:t>‹#›</a:t>
            </a:fld>
            <a:endParaRPr lang="en-US"/>
          </a:p>
        </p:txBody>
      </p:sp>
    </p:spTree>
    <p:extLst>
      <p:ext uri="{BB962C8B-B14F-4D97-AF65-F5344CB8AC3E}">
        <p14:creationId xmlns:p14="http://schemas.microsoft.com/office/powerpoint/2010/main" val="2827236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9B2DA-6E29-67F7-E330-A3499B4FD6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D8D334-B9FF-0C29-D894-94B6F25DD1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62A551-9175-265B-CF48-ED8F0094ACB9}"/>
              </a:ext>
            </a:extLst>
          </p:cNvPr>
          <p:cNvSpPr>
            <a:spLocks noGrp="1"/>
          </p:cNvSpPr>
          <p:nvPr>
            <p:ph type="dt" sz="half" idx="10"/>
          </p:nvPr>
        </p:nvSpPr>
        <p:spPr/>
        <p:txBody>
          <a:bodyPr/>
          <a:lstStyle/>
          <a:p>
            <a:fld id="{6E42F760-99FC-454E-AC88-A9960E843512}" type="datetimeFigureOut">
              <a:rPr lang="en-US" smtClean="0"/>
              <a:t>12-Nov-24</a:t>
            </a:fld>
            <a:endParaRPr lang="en-US"/>
          </a:p>
        </p:txBody>
      </p:sp>
      <p:sp>
        <p:nvSpPr>
          <p:cNvPr id="5" name="Footer Placeholder 4">
            <a:extLst>
              <a:ext uri="{FF2B5EF4-FFF2-40B4-BE49-F238E27FC236}">
                <a16:creationId xmlns:a16="http://schemas.microsoft.com/office/drawing/2014/main" id="{E4FB5379-1591-5C32-449A-BB1A266BC6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1AA591-EAD9-972A-8FC8-E94B99EE017D}"/>
              </a:ext>
            </a:extLst>
          </p:cNvPr>
          <p:cNvSpPr>
            <a:spLocks noGrp="1"/>
          </p:cNvSpPr>
          <p:nvPr>
            <p:ph type="sldNum" sz="quarter" idx="12"/>
          </p:nvPr>
        </p:nvSpPr>
        <p:spPr/>
        <p:txBody>
          <a:bodyPr/>
          <a:lstStyle/>
          <a:p>
            <a:fld id="{E278EE51-A209-43F9-B03A-FC31F3134639}" type="slidenum">
              <a:rPr lang="en-US" smtClean="0"/>
              <a:t>‹#›</a:t>
            </a:fld>
            <a:endParaRPr lang="en-US"/>
          </a:p>
        </p:txBody>
      </p:sp>
    </p:spTree>
    <p:extLst>
      <p:ext uri="{BB962C8B-B14F-4D97-AF65-F5344CB8AC3E}">
        <p14:creationId xmlns:p14="http://schemas.microsoft.com/office/powerpoint/2010/main" val="2991898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675058-32AF-9520-2FF4-68974E4516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E06947-3D7E-73D8-2586-BA49A44D5A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01F30B-C446-9733-96C5-5564DB44ABF1}"/>
              </a:ext>
            </a:extLst>
          </p:cNvPr>
          <p:cNvSpPr>
            <a:spLocks noGrp="1"/>
          </p:cNvSpPr>
          <p:nvPr>
            <p:ph type="dt" sz="half" idx="10"/>
          </p:nvPr>
        </p:nvSpPr>
        <p:spPr/>
        <p:txBody>
          <a:bodyPr/>
          <a:lstStyle/>
          <a:p>
            <a:fld id="{6E42F760-99FC-454E-AC88-A9960E843512}" type="datetimeFigureOut">
              <a:rPr lang="en-US" smtClean="0"/>
              <a:t>12-Nov-24</a:t>
            </a:fld>
            <a:endParaRPr lang="en-US"/>
          </a:p>
        </p:txBody>
      </p:sp>
      <p:sp>
        <p:nvSpPr>
          <p:cNvPr id="5" name="Footer Placeholder 4">
            <a:extLst>
              <a:ext uri="{FF2B5EF4-FFF2-40B4-BE49-F238E27FC236}">
                <a16:creationId xmlns:a16="http://schemas.microsoft.com/office/drawing/2014/main" id="{7C6CCCB9-37A1-0098-3AFA-68C21FB9E8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B8F565-812A-966D-2889-B634D0BA938A}"/>
              </a:ext>
            </a:extLst>
          </p:cNvPr>
          <p:cNvSpPr>
            <a:spLocks noGrp="1"/>
          </p:cNvSpPr>
          <p:nvPr>
            <p:ph type="sldNum" sz="quarter" idx="12"/>
          </p:nvPr>
        </p:nvSpPr>
        <p:spPr/>
        <p:txBody>
          <a:bodyPr/>
          <a:lstStyle/>
          <a:p>
            <a:fld id="{E278EE51-A209-43F9-B03A-FC31F3134639}" type="slidenum">
              <a:rPr lang="en-US" smtClean="0"/>
              <a:t>‹#›</a:t>
            </a:fld>
            <a:endParaRPr lang="en-US"/>
          </a:p>
        </p:txBody>
      </p:sp>
    </p:spTree>
    <p:extLst>
      <p:ext uri="{BB962C8B-B14F-4D97-AF65-F5344CB8AC3E}">
        <p14:creationId xmlns:p14="http://schemas.microsoft.com/office/powerpoint/2010/main" val="4066370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E4B9B2-2007-07C9-5042-2E9D302F8C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92A42FE-F3C8-DCC4-C3F7-32CD7A2536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508DE0-1696-8E2C-1DC7-37BC841424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42F760-99FC-454E-AC88-A9960E843512}" type="datetimeFigureOut">
              <a:rPr lang="en-US" smtClean="0"/>
              <a:t>12-Nov-24</a:t>
            </a:fld>
            <a:endParaRPr lang="en-US"/>
          </a:p>
        </p:txBody>
      </p:sp>
      <p:sp>
        <p:nvSpPr>
          <p:cNvPr id="5" name="Footer Placeholder 4">
            <a:extLst>
              <a:ext uri="{FF2B5EF4-FFF2-40B4-BE49-F238E27FC236}">
                <a16:creationId xmlns:a16="http://schemas.microsoft.com/office/drawing/2014/main" id="{DDB0684D-7232-E1AB-288C-F2A74ED2FE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63D22F-7D01-4B52-EE65-4C50000171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78EE51-A209-43F9-B03A-FC31F3134639}" type="slidenum">
              <a:rPr lang="en-US" smtClean="0"/>
              <a:t>‹#›</a:t>
            </a:fld>
            <a:endParaRPr lang="en-US"/>
          </a:p>
        </p:txBody>
      </p:sp>
    </p:spTree>
    <p:extLst>
      <p:ext uri="{BB962C8B-B14F-4D97-AF65-F5344CB8AC3E}">
        <p14:creationId xmlns:p14="http://schemas.microsoft.com/office/powerpoint/2010/main" val="35904247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iki.st.com/stm32mcu/wiki/Connectivity:BLE_smartphone_applications"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DFF538A-FDE2-B263-60CC-2AECC1CA47EA}"/>
              </a:ext>
            </a:extLst>
          </p:cNvPr>
          <p:cNvSpPr>
            <a:spLocks noGrp="1"/>
          </p:cNvSpPr>
          <p:nvPr>
            <p:ph type="ctrTitle"/>
          </p:nvPr>
        </p:nvSpPr>
        <p:spPr>
          <a:xfrm>
            <a:off x="1145943" y="957536"/>
            <a:ext cx="9096906" cy="2387600"/>
          </a:xfrm>
        </p:spPr>
        <p:txBody>
          <a:bodyPr>
            <a:normAutofit fontScale="90000"/>
          </a:bodyPr>
          <a:lstStyle/>
          <a:p>
            <a:r>
              <a:rPr lang="en-US" dirty="0"/>
              <a:t>IoT Project with STM32WLE5CBU6 and STM32WB55</a:t>
            </a:r>
          </a:p>
        </p:txBody>
      </p:sp>
      <p:sp>
        <p:nvSpPr>
          <p:cNvPr id="6" name="Subtitle 2">
            <a:extLst>
              <a:ext uri="{FF2B5EF4-FFF2-40B4-BE49-F238E27FC236}">
                <a16:creationId xmlns:a16="http://schemas.microsoft.com/office/drawing/2014/main" id="{28764A60-D3C4-B829-4135-CE504B68AAC4}"/>
              </a:ext>
            </a:extLst>
          </p:cNvPr>
          <p:cNvSpPr>
            <a:spLocks noGrp="1"/>
          </p:cNvSpPr>
          <p:nvPr>
            <p:ph type="subTitle" idx="1"/>
          </p:nvPr>
        </p:nvSpPr>
        <p:spPr>
          <a:xfrm>
            <a:off x="1524000" y="4079875"/>
            <a:ext cx="9144000" cy="2552468"/>
          </a:xfrm>
        </p:spPr>
        <p:txBody>
          <a:bodyPr>
            <a:normAutofit/>
          </a:bodyPr>
          <a:lstStyle/>
          <a:p>
            <a:r>
              <a:rPr lang="en-US" b="1" dirty="0"/>
              <a:t>General Items</a:t>
            </a:r>
          </a:p>
          <a:p>
            <a:r>
              <a:rPr lang="en-US" dirty="0"/>
              <a:t>LoRa 902 MHz RX, BW=2 kbit/s</a:t>
            </a:r>
          </a:p>
          <a:p>
            <a:r>
              <a:rPr lang="en-US" dirty="0"/>
              <a:t>LoRa 928 MHz TX, BW=100 kbit/s</a:t>
            </a:r>
          </a:p>
          <a:p>
            <a:r>
              <a:rPr lang="en-US" dirty="0"/>
              <a:t>Bluetooth communication with app phone (</a:t>
            </a:r>
            <a:r>
              <a:rPr lang="en-US" dirty="0">
                <a:hlinkClick r:id="rId2"/>
              </a:rPr>
              <a:t>https://wiki.st.com/stm32mcu/wiki/Connectivity:BLE_smartphone_applications</a:t>
            </a:r>
            <a:r>
              <a:rPr lang="en-US" dirty="0"/>
              <a:t>) [Display GPS coordinates on map/list in a phone]</a:t>
            </a:r>
          </a:p>
          <a:p>
            <a:endParaRPr lang="en-US" dirty="0"/>
          </a:p>
          <a:p>
            <a:endParaRPr lang="en-US" dirty="0"/>
          </a:p>
          <a:p>
            <a:endParaRPr lang="en-US" dirty="0"/>
          </a:p>
        </p:txBody>
      </p:sp>
    </p:spTree>
    <p:extLst>
      <p:ext uri="{BB962C8B-B14F-4D97-AF65-F5344CB8AC3E}">
        <p14:creationId xmlns:p14="http://schemas.microsoft.com/office/powerpoint/2010/main" val="278660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EA98B9-335B-6460-9C30-1D137574D2C7}"/>
              </a:ext>
            </a:extLst>
          </p:cNvPr>
          <p:cNvSpPr txBox="1"/>
          <p:nvPr/>
        </p:nvSpPr>
        <p:spPr>
          <a:xfrm>
            <a:off x="-1" y="0"/>
            <a:ext cx="12130517" cy="7294305"/>
          </a:xfrm>
          <a:prstGeom prst="rect">
            <a:avLst/>
          </a:prstGeom>
          <a:noFill/>
        </p:spPr>
        <p:txBody>
          <a:bodyPr wrap="square" rtlCol="0">
            <a:spAutoFit/>
          </a:bodyPr>
          <a:lstStyle/>
          <a:p>
            <a:pPr algn="just"/>
            <a:r>
              <a:rPr lang="en-US" b="1" dirty="0"/>
              <a:t>Project Description</a:t>
            </a:r>
          </a:p>
          <a:p>
            <a:pPr algn="just"/>
            <a:endParaRPr lang="en-US" b="1" dirty="0"/>
          </a:p>
          <a:p>
            <a:pPr algn="just"/>
            <a:r>
              <a:rPr lang="en-US" dirty="0"/>
              <a:t>The  project consist of three different boards: </a:t>
            </a:r>
            <a:r>
              <a:rPr lang="en-US" b="1" dirty="0"/>
              <a:t>The TX board, the Relay board and the Base station</a:t>
            </a:r>
          </a:p>
          <a:p>
            <a:pPr algn="just"/>
            <a:r>
              <a:rPr lang="en-US" b="1" dirty="0"/>
              <a:t>An application for a iOS and Android needs to be developed (can be done with another freelancer)</a:t>
            </a:r>
          </a:p>
          <a:p>
            <a:pPr algn="just"/>
            <a:endParaRPr lang="en-US" b="1" dirty="0"/>
          </a:p>
          <a:p>
            <a:pPr algn="just"/>
            <a:r>
              <a:rPr lang="en-US" b="1" dirty="0"/>
              <a:t>The TX board </a:t>
            </a:r>
            <a:r>
              <a:rPr lang="en-US" dirty="0"/>
              <a:t>includes one STM32wle5cbu6 MCU with a GNSS </a:t>
            </a:r>
            <a:r>
              <a:rPr lang="en-US" dirty="0" err="1"/>
              <a:t>Quectel</a:t>
            </a:r>
            <a:r>
              <a:rPr lang="en-US" dirty="0"/>
              <a:t> Module L86. This board will only communicate with the relay board. This board is battery power therefore is critical to enter in STOP 2 mode to save energy. This board should be as small possible such as 35 x 25 mm. The battery shall not exceed 400 </a:t>
            </a:r>
            <a:r>
              <a:rPr lang="en-US" dirty="0" err="1"/>
              <a:t>mAh</a:t>
            </a:r>
            <a:r>
              <a:rPr lang="en-US" dirty="0"/>
              <a:t>. This board will wake up everyday at 8 AM, receive the GNSS signal, correct/update the RTC value and after it will turn ON RX to listen for “Hello” signal from the relay signal. In order to save battery, the RX will be ON for two hours and will be only checking for the Hello signal for 5 s every 30 s i.e. the RX will be ON for 5 seconds and it will go into STOP2 for 25 and again 5 seconds RX ON waiting for the “Hello” signal. </a:t>
            </a:r>
            <a:r>
              <a:rPr lang="en-US" u="sng" dirty="0"/>
              <a:t>LORA 902 MHz, minimum bandwidth 2 kbits </a:t>
            </a:r>
          </a:p>
          <a:p>
            <a:pPr algn="just"/>
            <a:r>
              <a:rPr lang="en-US" b="1" dirty="0"/>
              <a:t>Example: </a:t>
            </a:r>
            <a:r>
              <a:rPr lang="en-US" dirty="0"/>
              <a:t>TX board will be ON from June to November, wake up everyday at 8 AM, update the RTC with the new data given by the GNSS module and 5 seconds listens for the relay signal and if it doesn’t receive the Hello signal then sleeps for 25 seconds. Then it wakes up check for 5 seconds for the hello signal and if it doesn’t hear the ”Hello” signal then goes into sleep again for 25 seconds. </a:t>
            </a:r>
          </a:p>
          <a:p>
            <a:pPr algn="just"/>
            <a:r>
              <a:rPr lang="en-US" b="1" dirty="0"/>
              <a:t>The Relay Board </a:t>
            </a:r>
            <a:r>
              <a:rPr lang="en-US" dirty="0"/>
              <a:t>includes two STM32wle5cbu6 MCU. This board will communicate with the multiple TX boards and the base station (there will be only one base station). This board can consume as much energy as required because it will be powered for a few hours; however, the size should be no large than 50 x 30 mmm. The relay board will send the acquired data from the TX boards to the base station board as soon as the GPS coordinates arrive. </a:t>
            </a:r>
            <a:r>
              <a:rPr lang="en-US" u="sng" dirty="0"/>
              <a:t>LORA 902 MHz, 250 kbits bandwidth</a:t>
            </a:r>
          </a:p>
          <a:p>
            <a:pPr algn="just"/>
            <a:r>
              <a:rPr lang="en-US" b="1" dirty="0"/>
              <a:t>Base Station: </a:t>
            </a:r>
            <a:r>
              <a:rPr lang="en-US" dirty="0"/>
              <a:t>includes one STM32wle5cbu6 MCU and a MCU with Bluetooth communication capabilities. This board will communicate with the relay board and a smartphone via Bluetooth. The base station will be listening for the data from the relay board and as the data arrives it will be send to the smartphone via Bluetooth</a:t>
            </a:r>
          </a:p>
          <a:p>
            <a:pPr algn="just"/>
            <a:r>
              <a:rPr lang="en-US" b="1" dirty="0"/>
              <a:t>APP: </a:t>
            </a:r>
            <a:r>
              <a:rPr lang="en-US" dirty="0"/>
              <a:t>The app will display on a map the location of the GPS coordinates. </a:t>
            </a:r>
          </a:p>
          <a:p>
            <a:pPr algn="just"/>
            <a:endParaRPr lang="en-US" b="1" dirty="0"/>
          </a:p>
        </p:txBody>
      </p:sp>
    </p:spTree>
    <p:extLst>
      <p:ext uri="{BB962C8B-B14F-4D97-AF65-F5344CB8AC3E}">
        <p14:creationId xmlns:p14="http://schemas.microsoft.com/office/powerpoint/2010/main" val="2910222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7BF480-2AC5-641A-C537-AF9FA08B0FD0}"/>
              </a:ext>
            </a:extLst>
          </p:cNvPr>
          <p:cNvSpPr txBox="1"/>
          <p:nvPr/>
        </p:nvSpPr>
        <p:spPr>
          <a:xfrm>
            <a:off x="3911129" y="66537"/>
            <a:ext cx="7707646" cy="461665"/>
          </a:xfrm>
          <a:prstGeom prst="rect">
            <a:avLst/>
          </a:prstGeom>
          <a:noFill/>
        </p:spPr>
        <p:txBody>
          <a:bodyPr wrap="square" rtlCol="0">
            <a:spAutoFit/>
          </a:bodyPr>
          <a:lstStyle/>
          <a:p>
            <a:r>
              <a:rPr lang="en-US" sz="2400" b="1" dirty="0">
                <a:solidFill>
                  <a:srgbClr val="FF0000"/>
                </a:solidFill>
              </a:rPr>
              <a:t>Overall view of all devices</a:t>
            </a:r>
          </a:p>
        </p:txBody>
      </p:sp>
      <p:grpSp>
        <p:nvGrpSpPr>
          <p:cNvPr id="3" name="Group 2">
            <a:extLst>
              <a:ext uri="{FF2B5EF4-FFF2-40B4-BE49-F238E27FC236}">
                <a16:creationId xmlns:a16="http://schemas.microsoft.com/office/drawing/2014/main" id="{FA27E37B-8EF2-CBCD-A66F-D322C2C48CA4}"/>
              </a:ext>
            </a:extLst>
          </p:cNvPr>
          <p:cNvGrpSpPr/>
          <p:nvPr/>
        </p:nvGrpSpPr>
        <p:grpSpPr>
          <a:xfrm>
            <a:off x="290492" y="3743940"/>
            <a:ext cx="3111044" cy="2488110"/>
            <a:chOff x="1369720" y="2425320"/>
            <a:chExt cx="3111044" cy="2488110"/>
          </a:xfrm>
        </p:grpSpPr>
        <p:pic>
          <p:nvPicPr>
            <p:cNvPr id="4" name="Picture 3">
              <a:extLst>
                <a:ext uri="{FF2B5EF4-FFF2-40B4-BE49-F238E27FC236}">
                  <a16:creationId xmlns:a16="http://schemas.microsoft.com/office/drawing/2014/main" id="{AED682A0-F1F3-17EE-F5BF-8C8F17AB35CC}"/>
                </a:ext>
              </a:extLst>
            </p:cNvPr>
            <p:cNvPicPr>
              <a:picLocks noChangeAspect="1"/>
            </p:cNvPicPr>
            <p:nvPr/>
          </p:nvPicPr>
          <p:blipFill rotWithShape="1">
            <a:blip r:embed="rId2">
              <a:extLst>
                <a:ext uri="{28A0092B-C50C-407E-A947-70E740481C1C}">
                  <a14:useLocalDpi xmlns:a14="http://schemas.microsoft.com/office/drawing/2010/main" val="0"/>
                </a:ext>
              </a:extLst>
            </a:blip>
            <a:srcRect l="33305" t="52543" r="30415"/>
            <a:stretch/>
          </p:blipFill>
          <p:spPr>
            <a:xfrm rot="5400000">
              <a:off x="1346133" y="2448907"/>
              <a:ext cx="2488110" cy="2440935"/>
            </a:xfrm>
            <a:prstGeom prst="rect">
              <a:avLst/>
            </a:prstGeom>
          </p:spPr>
        </p:pic>
        <p:sp>
          <p:nvSpPr>
            <p:cNvPr id="5" name="TextBox 4">
              <a:extLst>
                <a:ext uri="{FF2B5EF4-FFF2-40B4-BE49-F238E27FC236}">
                  <a16:creationId xmlns:a16="http://schemas.microsoft.com/office/drawing/2014/main" id="{34C0F6FE-5063-987D-235F-2909B611E787}"/>
                </a:ext>
              </a:extLst>
            </p:cNvPr>
            <p:cNvSpPr txBox="1"/>
            <p:nvPr/>
          </p:nvSpPr>
          <p:spPr>
            <a:xfrm>
              <a:off x="1455976" y="3861672"/>
              <a:ext cx="1067454" cy="646331"/>
            </a:xfrm>
            <a:prstGeom prst="rect">
              <a:avLst/>
            </a:prstGeom>
            <a:noFill/>
          </p:spPr>
          <p:txBody>
            <a:bodyPr wrap="square" rtlCol="0">
              <a:spAutoFit/>
            </a:bodyPr>
            <a:lstStyle/>
            <a:p>
              <a:r>
                <a:rPr lang="en-US" dirty="0"/>
                <a:t>QUECTEL L86</a:t>
              </a:r>
            </a:p>
          </p:txBody>
        </p:sp>
        <p:sp>
          <p:nvSpPr>
            <p:cNvPr id="6" name="TextBox 5">
              <a:extLst>
                <a:ext uri="{FF2B5EF4-FFF2-40B4-BE49-F238E27FC236}">
                  <a16:creationId xmlns:a16="http://schemas.microsoft.com/office/drawing/2014/main" id="{CAE28F02-ED0E-A89A-EE25-7D0CF37DCF76}"/>
                </a:ext>
              </a:extLst>
            </p:cNvPr>
            <p:cNvSpPr txBox="1"/>
            <p:nvPr/>
          </p:nvSpPr>
          <p:spPr>
            <a:xfrm>
              <a:off x="3332858" y="4148384"/>
              <a:ext cx="1147906" cy="646331"/>
            </a:xfrm>
            <a:prstGeom prst="rect">
              <a:avLst/>
            </a:prstGeom>
            <a:noFill/>
          </p:spPr>
          <p:txBody>
            <a:bodyPr wrap="square" rtlCol="0">
              <a:spAutoFit/>
            </a:bodyPr>
            <a:lstStyle/>
            <a:p>
              <a:r>
                <a:rPr lang="en-US" dirty="0"/>
                <a:t>Antenna 902 MHz</a:t>
              </a:r>
            </a:p>
          </p:txBody>
        </p:sp>
      </p:grpSp>
      <p:sp>
        <p:nvSpPr>
          <p:cNvPr id="7" name="TextBox 6">
            <a:extLst>
              <a:ext uri="{FF2B5EF4-FFF2-40B4-BE49-F238E27FC236}">
                <a16:creationId xmlns:a16="http://schemas.microsoft.com/office/drawing/2014/main" id="{41EEFEB9-06F9-7E45-8090-103328DDE0D0}"/>
              </a:ext>
            </a:extLst>
          </p:cNvPr>
          <p:cNvSpPr txBox="1"/>
          <p:nvPr/>
        </p:nvSpPr>
        <p:spPr>
          <a:xfrm>
            <a:off x="960512" y="3374607"/>
            <a:ext cx="1810159" cy="369332"/>
          </a:xfrm>
          <a:prstGeom prst="rect">
            <a:avLst/>
          </a:prstGeom>
          <a:noFill/>
        </p:spPr>
        <p:txBody>
          <a:bodyPr wrap="square">
            <a:spAutoFit/>
          </a:bodyPr>
          <a:lstStyle/>
          <a:p>
            <a:r>
              <a:rPr lang="en-US" dirty="0"/>
              <a:t>STM32wle5cbu6</a:t>
            </a:r>
          </a:p>
        </p:txBody>
      </p:sp>
      <p:sp>
        <p:nvSpPr>
          <p:cNvPr id="8" name="TextBox 7">
            <a:extLst>
              <a:ext uri="{FF2B5EF4-FFF2-40B4-BE49-F238E27FC236}">
                <a16:creationId xmlns:a16="http://schemas.microsoft.com/office/drawing/2014/main" id="{344017B8-E0EC-3E58-327F-167A8B97C93E}"/>
              </a:ext>
            </a:extLst>
          </p:cNvPr>
          <p:cNvSpPr txBox="1"/>
          <p:nvPr/>
        </p:nvSpPr>
        <p:spPr>
          <a:xfrm>
            <a:off x="243317" y="6479289"/>
            <a:ext cx="4195251" cy="369332"/>
          </a:xfrm>
          <a:prstGeom prst="rect">
            <a:avLst/>
          </a:prstGeom>
          <a:noFill/>
        </p:spPr>
        <p:txBody>
          <a:bodyPr wrap="square" rtlCol="0">
            <a:spAutoFit/>
          </a:bodyPr>
          <a:lstStyle/>
          <a:p>
            <a:r>
              <a:rPr lang="en-US" dirty="0"/>
              <a:t>Multiple </a:t>
            </a:r>
            <a:r>
              <a:rPr lang="en-US" dirty="0">
                <a:solidFill>
                  <a:srgbClr val="FF0000"/>
                </a:solidFill>
              </a:rPr>
              <a:t>TX boards </a:t>
            </a:r>
            <a:r>
              <a:rPr lang="en-US" dirty="0"/>
              <a:t>with </a:t>
            </a:r>
            <a:r>
              <a:rPr lang="en-US" dirty="0" err="1"/>
              <a:t>LoRaWAN</a:t>
            </a:r>
            <a:endParaRPr lang="en-US" dirty="0"/>
          </a:p>
        </p:txBody>
      </p:sp>
      <p:sp>
        <p:nvSpPr>
          <p:cNvPr id="9" name="Rectangle 8">
            <a:extLst>
              <a:ext uri="{FF2B5EF4-FFF2-40B4-BE49-F238E27FC236}">
                <a16:creationId xmlns:a16="http://schemas.microsoft.com/office/drawing/2014/main" id="{EEEC87D1-FEF3-D399-C6BF-215674806493}"/>
              </a:ext>
            </a:extLst>
          </p:cNvPr>
          <p:cNvSpPr/>
          <p:nvPr/>
        </p:nvSpPr>
        <p:spPr>
          <a:xfrm>
            <a:off x="3955859" y="3743939"/>
            <a:ext cx="2663729" cy="253127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EF67A31-52F6-F995-A6C9-4DAB3F9A95E8}"/>
              </a:ext>
            </a:extLst>
          </p:cNvPr>
          <p:cNvSpPr txBox="1"/>
          <p:nvPr/>
        </p:nvSpPr>
        <p:spPr>
          <a:xfrm>
            <a:off x="3970590" y="4572027"/>
            <a:ext cx="1057316" cy="646331"/>
          </a:xfrm>
          <a:prstGeom prst="rect">
            <a:avLst/>
          </a:prstGeom>
          <a:noFill/>
        </p:spPr>
        <p:txBody>
          <a:bodyPr wrap="square">
            <a:spAutoFit/>
          </a:bodyPr>
          <a:lstStyle/>
          <a:p>
            <a:r>
              <a:rPr lang="en-US" dirty="0"/>
              <a:t>STM32wle5cbu6</a:t>
            </a:r>
          </a:p>
        </p:txBody>
      </p:sp>
      <p:sp>
        <p:nvSpPr>
          <p:cNvPr id="12" name="TextBox 11">
            <a:extLst>
              <a:ext uri="{FF2B5EF4-FFF2-40B4-BE49-F238E27FC236}">
                <a16:creationId xmlns:a16="http://schemas.microsoft.com/office/drawing/2014/main" id="{D929986A-8EF6-2D85-0D40-5B3660AEFA0A}"/>
              </a:ext>
            </a:extLst>
          </p:cNvPr>
          <p:cNvSpPr txBox="1"/>
          <p:nvPr/>
        </p:nvSpPr>
        <p:spPr>
          <a:xfrm>
            <a:off x="5488380" y="4533961"/>
            <a:ext cx="1057317" cy="646331"/>
          </a:xfrm>
          <a:prstGeom prst="rect">
            <a:avLst/>
          </a:prstGeom>
          <a:noFill/>
        </p:spPr>
        <p:txBody>
          <a:bodyPr wrap="square">
            <a:spAutoFit/>
          </a:bodyPr>
          <a:lstStyle/>
          <a:p>
            <a:r>
              <a:rPr lang="en-US" dirty="0"/>
              <a:t>STM32wle5cbu6</a:t>
            </a:r>
          </a:p>
        </p:txBody>
      </p:sp>
      <p:sp>
        <p:nvSpPr>
          <p:cNvPr id="13" name="Rectangle 12">
            <a:extLst>
              <a:ext uri="{FF2B5EF4-FFF2-40B4-BE49-F238E27FC236}">
                <a16:creationId xmlns:a16="http://schemas.microsoft.com/office/drawing/2014/main" id="{FF8A35F1-BB69-D0BF-731C-14CD6AD83AFB}"/>
              </a:ext>
            </a:extLst>
          </p:cNvPr>
          <p:cNvSpPr/>
          <p:nvPr/>
        </p:nvSpPr>
        <p:spPr>
          <a:xfrm>
            <a:off x="4010803" y="4407173"/>
            <a:ext cx="926172" cy="8947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AE0EDC8-9639-1D80-3980-8CD0F418AAB0}"/>
              </a:ext>
            </a:extLst>
          </p:cNvPr>
          <p:cNvSpPr/>
          <p:nvPr/>
        </p:nvSpPr>
        <p:spPr>
          <a:xfrm>
            <a:off x="5552792" y="4387777"/>
            <a:ext cx="1037387" cy="8947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F35FC223-3328-11A7-6AD7-B79728566EF4}"/>
              </a:ext>
            </a:extLst>
          </p:cNvPr>
          <p:cNvCxnSpPr>
            <a:cxnSpLocks/>
            <a:stCxn id="13" idx="1"/>
          </p:cNvCxnSpPr>
          <p:nvPr/>
        </p:nvCxnSpPr>
        <p:spPr>
          <a:xfrm flipH="1" flipV="1">
            <a:off x="3712542" y="4854561"/>
            <a:ext cx="298261"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3DD1B7B-A1A0-8278-7F0D-84CDA0A6AF94}"/>
              </a:ext>
            </a:extLst>
          </p:cNvPr>
          <p:cNvCxnSpPr/>
          <p:nvPr/>
        </p:nvCxnSpPr>
        <p:spPr>
          <a:xfrm flipV="1">
            <a:off x="3712542" y="4407173"/>
            <a:ext cx="0" cy="484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23F3C0C-10AB-C9D1-B7ED-4E7F5EAFA9EA}"/>
              </a:ext>
            </a:extLst>
          </p:cNvPr>
          <p:cNvCxnSpPr>
            <a:cxnSpLocks/>
          </p:cNvCxnSpPr>
          <p:nvPr/>
        </p:nvCxnSpPr>
        <p:spPr>
          <a:xfrm>
            <a:off x="3524168" y="4214874"/>
            <a:ext cx="176602" cy="17290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AE617F3-8C7A-984C-3AB7-D562E52F5274}"/>
              </a:ext>
            </a:extLst>
          </p:cNvPr>
          <p:cNvCxnSpPr/>
          <p:nvPr/>
        </p:nvCxnSpPr>
        <p:spPr>
          <a:xfrm flipV="1">
            <a:off x="3712542" y="4214874"/>
            <a:ext cx="62792" cy="19229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6B60F16-35AE-004E-4042-B9FEC4FB4307}"/>
              </a:ext>
            </a:extLst>
          </p:cNvPr>
          <p:cNvCxnSpPr/>
          <p:nvPr/>
        </p:nvCxnSpPr>
        <p:spPr>
          <a:xfrm>
            <a:off x="3524168" y="4214874"/>
            <a:ext cx="2511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E02D846-16DE-31F1-152A-63BD37CBDACE}"/>
              </a:ext>
            </a:extLst>
          </p:cNvPr>
          <p:cNvCxnSpPr>
            <a:cxnSpLocks/>
          </p:cNvCxnSpPr>
          <p:nvPr/>
        </p:nvCxnSpPr>
        <p:spPr>
          <a:xfrm flipH="1">
            <a:off x="6526400" y="4916602"/>
            <a:ext cx="40126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55DDE7D-35AC-97BF-7933-381BB2CCB674}"/>
              </a:ext>
            </a:extLst>
          </p:cNvPr>
          <p:cNvCxnSpPr/>
          <p:nvPr/>
        </p:nvCxnSpPr>
        <p:spPr>
          <a:xfrm flipV="1">
            <a:off x="6927668" y="4444081"/>
            <a:ext cx="0" cy="484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9932624-AD8C-0A18-ED0D-F145755D1168}"/>
              </a:ext>
            </a:extLst>
          </p:cNvPr>
          <p:cNvCxnSpPr>
            <a:cxnSpLocks/>
          </p:cNvCxnSpPr>
          <p:nvPr/>
        </p:nvCxnSpPr>
        <p:spPr>
          <a:xfrm>
            <a:off x="6739294" y="4251782"/>
            <a:ext cx="188373" cy="192299"/>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16B7F15-165F-DDC9-8374-17C1E8B38328}"/>
              </a:ext>
            </a:extLst>
          </p:cNvPr>
          <p:cNvCxnSpPr/>
          <p:nvPr/>
        </p:nvCxnSpPr>
        <p:spPr>
          <a:xfrm flipV="1">
            <a:off x="6927668" y="4251782"/>
            <a:ext cx="62792" cy="192299"/>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FDAA5D1-6486-95B5-8AFE-08613567031B}"/>
              </a:ext>
            </a:extLst>
          </p:cNvPr>
          <p:cNvCxnSpPr/>
          <p:nvPr/>
        </p:nvCxnSpPr>
        <p:spPr>
          <a:xfrm>
            <a:off x="6739294" y="4251782"/>
            <a:ext cx="251166" cy="0"/>
          </a:xfrm>
          <a:prstGeom prst="line">
            <a:avLst/>
          </a:prstGeom>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1791BF1-E64A-E645-D8E9-E4C2BF3731FE}"/>
              </a:ext>
            </a:extLst>
          </p:cNvPr>
          <p:cNvSpPr txBox="1"/>
          <p:nvPr/>
        </p:nvSpPr>
        <p:spPr>
          <a:xfrm>
            <a:off x="3082666" y="3914946"/>
            <a:ext cx="1259751" cy="307777"/>
          </a:xfrm>
          <a:prstGeom prst="rect">
            <a:avLst/>
          </a:prstGeom>
          <a:noFill/>
        </p:spPr>
        <p:txBody>
          <a:bodyPr wrap="square" rtlCol="0">
            <a:spAutoFit/>
          </a:bodyPr>
          <a:lstStyle/>
          <a:p>
            <a:r>
              <a:rPr lang="en-US" sz="1400" dirty="0"/>
              <a:t>LoRa 902 MHz</a:t>
            </a:r>
          </a:p>
        </p:txBody>
      </p:sp>
      <p:sp>
        <p:nvSpPr>
          <p:cNvPr id="34" name="TextBox 33">
            <a:extLst>
              <a:ext uri="{FF2B5EF4-FFF2-40B4-BE49-F238E27FC236}">
                <a16:creationId xmlns:a16="http://schemas.microsoft.com/office/drawing/2014/main" id="{D1A94407-8E30-1576-4E0C-0727FBB494DC}"/>
              </a:ext>
            </a:extLst>
          </p:cNvPr>
          <p:cNvSpPr txBox="1"/>
          <p:nvPr/>
        </p:nvSpPr>
        <p:spPr>
          <a:xfrm>
            <a:off x="6526400" y="3572346"/>
            <a:ext cx="826088" cy="738664"/>
          </a:xfrm>
          <a:prstGeom prst="rect">
            <a:avLst/>
          </a:prstGeom>
          <a:noFill/>
        </p:spPr>
        <p:txBody>
          <a:bodyPr wrap="square" rtlCol="0">
            <a:spAutoFit/>
          </a:bodyPr>
          <a:lstStyle/>
          <a:p>
            <a:r>
              <a:rPr lang="en-US" sz="1400" dirty="0"/>
              <a:t>LoRa 928 MHz</a:t>
            </a:r>
          </a:p>
        </p:txBody>
      </p:sp>
      <p:sp>
        <p:nvSpPr>
          <p:cNvPr id="35" name="TextBox 34">
            <a:extLst>
              <a:ext uri="{FF2B5EF4-FFF2-40B4-BE49-F238E27FC236}">
                <a16:creationId xmlns:a16="http://schemas.microsoft.com/office/drawing/2014/main" id="{2F64E026-BAD1-89F8-5E46-0D91FA67F91D}"/>
              </a:ext>
            </a:extLst>
          </p:cNvPr>
          <p:cNvSpPr txBox="1"/>
          <p:nvPr/>
        </p:nvSpPr>
        <p:spPr>
          <a:xfrm>
            <a:off x="1112912" y="49908"/>
            <a:ext cx="1810159" cy="369332"/>
          </a:xfrm>
          <a:prstGeom prst="rect">
            <a:avLst/>
          </a:prstGeom>
          <a:noFill/>
        </p:spPr>
        <p:txBody>
          <a:bodyPr wrap="square">
            <a:spAutoFit/>
          </a:bodyPr>
          <a:lstStyle/>
          <a:p>
            <a:r>
              <a:rPr lang="en-US" dirty="0"/>
              <a:t>STM32wle5cbu6</a:t>
            </a:r>
          </a:p>
        </p:txBody>
      </p:sp>
      <p:grpSp>
        <p:nvGrpSpPr>
          <p:cNvPr id="37" name="Group 36">
            <a:extLst>
              <a:ext uri="{FF2B5EF4-FFF2-40B4-BE49-F238E27FC236}">
                <a16:creationId xmlns:a16="http://schemas.microsoft.com/office/drawing/2014/main" id="{2779FE1E-009F-E2C4-AAC5-F581E0D84563}"/>
              </a:ext>
            </a:extLst>
          </p:cNvPr>
          <p:cNvGrpSpPr/>
          <p:nvPr/>
        </p:nvGrpSpPr>
        <p:grpSpPr>
          <a:xfrm>
            <a:off x="601497" y="549916"/>
            <a:ext cx="2958189" cy="2498195"/>
            <a:chOff x="1369720" y="2425320"/>
            <a:chExt cx="2958189" cy="2498195"/>
          </a:xfrm>
        </p:grpSpPr>
        <p:pic>
          <p:nvPicPr>
            <p:cNvPr id="38" name="Picture 37">
              <a:extLst>
                <a:ext uri="{FF2B5EF4-FFF2-40B4-BE49-F238E27FC236}">
                  <a16:creationId xmlns:a16="http://schemas.microsoft.com/office/drawing/2014/main" id="{B321DB5B-98DD-0793-40C5-9866C1842BD3}"/>
                </a:ext>
              </a:extLst>
            </p:cNvPr>
            <p:cNvPicPr>
              <a:picLocks noChangeAspect="1"/>
            </p:cNvPicPr>
            <p:nvPr/>
          </p:nvPicPr>
          <p:blipFill rotWithShape="1">
            <a:blip r:embed="rId2">
              <a:extLst>
                <a:ext uri="{28A0092B-C50C-407E-A947-70E740481C1C}">
                  <a14:useLocalDpi xmlns:a14="http://schemas.microsoft.com/office/drawing/2010/main" val="0"/>
                </a:ext>
              </a:extLst>
            </a:blip>
            <a:srcRect l="33305" t="52543" r="30415"/>
            <a:stretch/>
          </p:blipFill>
          <p:spPr>
            <a:xfrm rot="5400000">
              <a:off x="1346133" y="2448907"/>
              <a:ext cx="2488110" cy="2440935"/>
            </a:xfrm>
            <a:prstGeom prst="rect">
              <a:avLst/>
            </a:prstGeom>
          </p:spPr>
        </p:pic>
        <p:sp>
          <p:nvSpPr>
            <p:cNvPr id="39" name="TextBox 38">
              <a:extLst>
                <a:ext uri="{FF2B5EF4-FFF2-40B4-BE49-F238E27FC236}">
                  <a16:creationId xmlns:a16="http://schemas.microsoft.com/office/drawing/2014/main" id="{32E81AFF-6E30-1065-B4CE-EA4E96262F04}"/>
                </a:ext>
              </a:extLst>
            </p:cNvPr>
            <p:cNvSpPr txBox="1"/>
            <p:nvPr/>
          </p:nvSpPr>
          <p:spPr>
            <a:xfrm>
              <a:off x="1455976" y="3861672"/>
              <a:ext cx="1067454" cy="646331"/>
            </a:xfrm>
            <a:prstGeom prst="rect">
              <a:avLst/>
            </a:prstGeom>
            <a:noFill/>
          </p:spPr>
          <p:txBody>
            <a:bodyPr wrap="square" rtlCol="0">
              <a:spAutoFit/>
            </a:bodyPr>
            <a:lstStyle/>
            <a:p>
              <a:r>
                <a:rPr lang="en-US" dirty="0"/>
                <a:t>QUECTEL L86</a:t>
              </a:r>
            </a:p>
          </p:txBody>
        </p:sp>
        <p:sp>
          <p:nvSpPr>
            <p:cNvPr id="40" name="TextBox 39">
              <a:extLst>
                <a:ext uri="{FF2B5EF4-FFF2-40B4-BE49-F238E27FC236}">
                  <a16:creationId xmlns:a16="http://schemas.microsoft.com/office/drawing/2014/main" id="{B2C256A1-8817-02A7-746C-B0C3F0C0700C}"/>
                </a:ext>
              </a:extLst>
            </p:cNvPr>
            <p:cNvSpPr txBox="1"/>
            <p:nvPr/>
          </p:nvSpPr>
          <p:spPr>
            <a:xfrm>
              <a:off x="3180003" y="4277184"/>
              <a:ext cx="1147906" cy="646331"/>
            </a:xfrm>
            <a:prstGeom prst="rect">
              <a:avLst/>
            </a:prstGeom>
            <a:noFill/>
          </p:spPr>
          <p:txBody>
            <a:bodyPr wrap="square" rtlCol="0">
              <a:spAutoFit/>
            </a:bodyPr>
            <a:lstStyle/>
            <a:p>
              <a:r>
                <a:rPr lang="en-US" dirty="0"/>
                <a:t>Antenna 902 MHz</a:t>
              </a:r>
            </a:p>
          </p:txBody>
        </p:sp>
      </p:grpSp>
      <p:cxnSp>
        <p:nvCxnSpPr>
          <p:cNvPr id="47" name="Straight Arrow Connector 46">
            <a:extLst>
              <a:ext uri="{FF2B5EF4-FFF2-40B4-BE49-F238E27FC236}">
                <a16:creationId xmlns:a16="http://schemas.microsoft.com/office/drawing/2014/main" id="{F85F091A-CD36-E4FF-1086-3851EA37499C}"/>
              </a:ext>
            </a:extLst>
          </p:cNvPr>
          <p:cNvCxnSpPr/>
          <p:nvPr/>
        </p:nvCxnSpPr>
        <p:spPr>
          <a:xfrm>
            <a:off x="4933059" y="4686229"/>
            <a:ext cx="655385" cy="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C497F882-8479-9D0D-6DFC-AA5BAD6005E0}"/>
              </a:ext>
            </a:extLst>
          </p:cNvPr>
          <p:cNvSpPr txBox="1"/>
          <p:nvPr/>
        </p:nvSpPr>
        <p:spPr>
          <a:xfrm>
            <a:off x="4879105" y="4259415"/>
            <a:ext cx="735183" cy="369332"/>
          </a:xfrm>
          <a:prstGeom prst="rect">
            <a:avLst/>
          </a:prstGeom>
          <a:noFill/>
        </p:spPr>
        <p:txBody>
          <a:bodyPr wrap="square" rtlCol="0">
            <a:spAutoFit/>
          </a:bodyPr>
          <a:lstStyle/>
          <a:p>
            <a:r>
              <a:rPr lang="en-US" dirty="0"/>
              <a:t>UART</a:t>
            </a:r>
          </a:p>
        </p:txBody>
      </p:sp>
      <p:sp>
        <p:nvSpPr>
          <p:cNvPr id="49" name="Rectangle 48">
            <a:extLst>
              <a:ext uri="{FF2B5EF4-FFF2-40B4-BE49-F238E27FC236}">
                <a16:creationId xmlns:a16="http://schemas.microsoft.com/office/drawing/2014/main" id="{A8A09EED-AE2E-3913-33FB-A4837B3FF01B}"/>
              </a:ext>
            </a:extLst>
          </p:cNvPr>
          <p:cNvSpPr/>
          <p:nvPr/>
        </p:nvSpPr>
        <p:spPr>
          <a:xfrm>
            <a:off x="7901276" y="3855137"/>
            <a:ext cx="2868785" cy="253127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a:extLst>
              <a:ext uri="{FF2B5EF4-FFF2-40B4-BE49-F238E27FC236}">
                <a16:creationId xmlns:a16="http://schemas.microsoft.com/office/drawing/2014/main" id="{1A6B74B1-14CD-99A6-159C-E68F1A2AE08C}"/>
              </a:ext>
            </a:extLst>
          </p:cNvPr>
          <p:cNvCxnSpPr>
            <a:cxnSpLocks/>
          </p:cNvCxnSpPr>
          <p:nvPr/>
        </p:nvCxnSpPr>
        <p:spPr>
          <a:xfrm flipH="1">
            <a:off x="7482006" y="4900155"/>
            <a:ext cx="40126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89C0EB2-7882-89FA-BDFA-BB68DA37ECE0}"/>
              </a:ext>
            </a:extLst>
          </p:cNvPr>
          <p:cNvCxnSpPr/>
          <p:nvPr/>
        </p:nvCxnSpPr>
        <p:spPr>
          <a:xfrm flipV="1">
            <a:off x="7487897" y="4444081"/>
            <a:ext cx="0" cy="484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6A34901-4335-FDDF-EA31-0B44400389D2}"/>
              </a:ext>
            </a:extLst>
          </p:cNvPr>
          <p:cNvCxnSpPr>
            <a:cxnSpLocks/>
          </p:cNvCxnSpPr>
          <p:nvPr/>
        </p:nvCxnSpPr>
        <p:spPr>
          <a:xfrm>
            <a:off x="7299523" y="4251782"/>
            <a:ext cx="188373" cy="192299"/>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1B4C4C1-AFE2-A58B-3EE4-6E74E94FC773}"/>
              </a:ext>
            </a:extLst>
          </p:cNvPr>
          <p:cNvCxnSpPr/>
          <p:nvPr/>
        </p:nvCxnSpPr>
        <p:spPr>
          <a:xfrm flipV="1">
            <a:off x="7487897" y="4251782"/>
            <a:ext cx="62792" cy="192299"/>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1FB49CB-4FB1-6F80-721F-613654899235}"/>
              </a:ext>
            </a:extLst>
          </p:cNvPr>
          <p:cNvCxnSpPr/>
          <p:nvPr/>
        </p:nvCxnSpPr>
        <p:spPr>
          <a:xfrm>
            <a:off x="7299523" y="4251782"/>
            <a:ext cx="251166" cy="0"/>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3F32780B-7569-08D6-874B-3E1AEA8DF6AE}"/>
              </a:ext>
            </a:extLst>
          </p:cNvPr>
          <p:cNvSpPr txBox="1"/>
          <p:nvPr/>
        </p:nvSpPr>
        <p:spPr>
          <a:xfrm>
            <a:off x="7172960" y="3415171"/>
            <a:ext cx="755458" cy="738664"/>
          </a:xfrm>
          <a:prstGeom prst="rect">
            <a:avLst/>
          </a:prstGeom>
          <a:noFill/>
        </p:spPr>
        <p:txBody>
          <a:bodyPr wrap="square" rtlCol="0">
            <a:spAutoFit/>
          </a:bodyPr>
          <a:lstStyle/>
          <a:p>
            <a:r>
              <a:rPr lang="en-US" sz="1400" dirty="0"/>
              <a:t>LoRa 928 MHz</a:t>
            </a:r>
          </a:p>
        </p:txBody>
      </p:sp>
      <p:sp>
        <p:nvSpPr>
          <p:cNvPr id="57" name="TextBox 56">
            <a:extLst>
              <a:ext uri="{FF2B5EF4-FFF2-40B4-BE49-F238E27FC236}">
                <a16:creationId xmlns:a16="http://schemas.microsoft.com/office/drawing/2014/main" id="{B30040DF-9777-6949-0E8B-2C851F447C23}"/>
              </a:ext>
            </a:extLst>
          </p:cNvPr>
          <p:cNvSpPr txBox="1"/>
          <p:nvPr/>
        </p:nvSpPr>
        <p:spPr>
          <a:xfrm>
            <a:off x="7886579" y="4512511"/>
            <a:ext cx="1057316" cy="646331"/>
          </a:xfrm>
          <a:prstGeom prst="rect">
            <a:avLst/>
          </a:prstGeom>
          <a:noFill/>
        </p:spPr>
        <p:txBody>
          <a:bodyPr wrap="square">
            <a:spAutoFit/>
          </a:bodyPr>
          <a:lstStyle/>
          <a:p>
            <a:r>
              <a:rPr lang="en-US" dirty="0"/>
              <a:t>STM32wle5cbu6</a:t>
            </a:r>
          </a:p>
        </p:txBody>
      </p:sp>
      <p:sp>
        <p:nvSpPr>
          <p:cNvPr id="58" name="TextBox 57">
            <a:extLst>
              <a:ext uri="{FF2B5EF4-FFF2-40B4-BE49-F238E27FC236}">
                <a16:creationId xmlns:a16="http://schemas.microsoft.com/office/drawing/2014/main" id="{D54C49BC-1583-C342-4B9B-202788441F7D}"/>
              </a:ext>
            </a:extLst>
          </p:cNvPr>
          <p:cNvSpPr txBox="1"/>
          <p:nvPr/>
        </p:nvSpPr>
        <p:spPr>
          <a:xfrm>
            <a:off x="9456221" y="4328261"/>
            <a:ext cx="1214344" cy="1200329"/>
          </a:xfrm>
          <a:prstGeom prst="rect">
            <a:avLst/>
          </a:prstGeom>
          <a:noFill/>
        </p:spPr>
        <p:txBody>
          <a:bodyPr wrap="square">
            <a:spAutoFit/>
          </a:bodyPr>
          <a:lstStyle/>
          <a:p>
            <a:r>
              <a:rPr lang="en-US" dirty="0"/>
              <a:t>ESP32-C3</a:t>
            </a:r>
          </a:p>
          <a:p>
            <a:r>
              <a:rPr lang="en-US" dirty="0"/>
              <a:t>Or similar Bluetooth MCU</a:t>
            </a:r>
          </a:p>
        </p:txBody>
      </p:sp>
      <p:sp>
        <p:nvSpPr>
          <p:cNvPr id="59" name="Rectangle 58">
            <a:extLst>
              <a:ext uri="{FF2B5EF4-FFF2-40B4-BE49-F238E27FC236}">
                <a16:creationId xmlns:a16="http://schemas.microsoft.com/office/drawing/2014/main" id="{C5CB9807-8B19-FEB9-BD88-EEE8FA59FADA}"/>
              </a:ext>
            </a:extLst>
          </p:cNvPr>
          <p:cNvSpPr/>
          <p:nvPr/>
        </p:nvSpPr>
        <p:spPr>
          <a:xfrm>
            <a:off x="7926792" y="4347657"/>
            <a:ext cx="926172" cy="8947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754581AC-22A0-5D96-7D22-ADECD534FFED}"/>
              </a:ext>
            </a:extLst>
          </p:cNvPr>
          <p:cNvSpPr/>
          <p:nvPr/>
        </p:nvSpPr>
        <p:spPr>
          <a:xfrm>
            <a:off x="9468781" y="4328261"/>
            <a:ext cx="1037387" cy="8947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94C0E56C-61DA-9123-DFA3-FE16BC0EB79F}"/>
              </a:ext>
            </a:extLst>
          </p:cNvPr>
          <p:cNvSpPr txBox="1"/>
          <p:nvPr/>
        </p:nvSpPr>
        <p:spPr>
          <a:xfrm>
            <a:off x="8795094" y="4199899"/>
            <a:ext cx="735183" cy="369332"/>
          </a:xfrm>
          <a:prstGeom prst="rect">
            <a:avLst/>
          </a:prstGeom>
          <a:noFill/>
        </p:spPr>
        <p:txBody>
          <a:bodyPr wrap="square" rtlCol="0">
            <a:spAutoFit/>
          </a:bodyPr>
          <a:lstStyle/>
          <a:p>
            <a:r>
              <a:rPr lang="en-US" dirty="0"/>
              <a:t>UART</a:t>
            </a:r>
          </a:p>
        </p:txBody>
      </p:sp>
      <p:cxnSp>
        <p:nvCxnSpPr>
          <p:cNvPr id="64" name="Straight Connector 63">
            <a:extLst>
              <a:ext uri="{FF2B5EF4-FFF2-40B4-BE49-F238E27FC236}">
                <a16:creationId xmlns:a16="http://schemas.microsoft.com/office/drawing/2014/main" id="{94A0379B-BA15-A47D-B181-583F024F67EF}"/>
              </a:ext>
            </a:extLst>
          </p:cNvPr>
          <p:cNvCxnSpPr>
            <a:cxnSpLocks/>
          </p:cNvCxnSpPr>
          <p:nvPr/>
        </p:nvCxnSpPr>
        <p:spPr>
          <a:xfrm flipH="1">
            <a:off x="10618714" y="4935928"/>
            <a:ext cx="40126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5685E40D-EF78-FBCB-51C8-103BCF448099}"/>
              </a:ext>
            </a:extLst>
          </p:cNvPr>
          <p:cNvCxnSpPr/>
          <p:nvPr/>
        </p:nvCxnSpPr>
        <p:spPr>
          <a:xfrm flipV="1">
            <a:off x="11019982" y="4457910"/>
            <a:ext cx="0" cy="484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5AB73AB-0101-9CBE-8533-7722B00B9A02}"/>
              </a:ext>
            </a:extLst>
          </p:cNvPr>
          <p:cNvCxnSpPr/>
          <p:nvPr/>
        </p:nvCxnSpPr>
        <p:spPr>
          <a:xfrm flipV="1">
            <a:off x="11019982" y="4265611"/>
            <a:ext cx="62792" cy="192299"/>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408A4B6-55D5-7A02-66FF-D5C3B2D9109D}"/>
              </a:ext>
            </a:extLst>
          </p:cNvPr>
          <p:cNvCxnSpPr/>
          <p:nvPr/>
        </p:nvCxnSpPr>
        <p:spPr>
          <a:xfrm>
            <a:off x="10831608" y="4265611"/>
            <a:ext cx="251166" cy="0"/>
          </a:xfrm>
          <a:prstGeom prst="line">
            <a:avLst/>
          </a:prstGeom>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D2BA2755-6F75-CF5D-A392-F2316324F568}"/>
              </a:ext>
            </a:extLst>
          </p:cNvPr>
          <p:cNvSpPr txBox="1"/>
          <p:nvPr/>
        </p:nvSpPr>
        <p:spPr>
          <a:xfrm>
            <a:off x="10329169" y="3990834"/>
            <a:ext cx="1004877" cy="307777"/>
          </a:xfrm>
          <a:prstGeom prst="rect">
            <a:avLst/>
          </a:prstGeom>
          <a:noFill/>
        </p:spPr>
        <p:txBody>
          <a:bodyPr wrap="square" rtlCol="0">
            <a:spAutoFit/>
          </a:bodyPr>
          <a:lstStyle/>
          <a:p>
            <a:r>
              <a:rPr lang="en-US" sz="1400" dirty="0"/>
              <a:t>Bluetooth</a:t>
            </a:r>
          </a:p>
        </p:txBody>
      </p:sp>
      <p:cxnSp>
        <p:nvCxnSpPr>
          <p:cNvPr id="70" name="Straight Connector 69">
            <a:extLst>
              <a:ext uri="{FF2B5EF4-FFF2-40B4-BE49-F238E27FC236}">
                <a16:creationId xmlns:a16="http://schemas.microsoft.com/office/drawing/2014/main" id="{21B0F6BF-8AFD-9FC9-C6B1-4232189D03F1}"/>
              </a:ext>
            </a:extLst>
          </p:cNvPr>
          <p:cNvCxnSpPr>
            <a:cxnSpLocks/>
          </p:cNvCxnSpPr>
          <p:nvPr/>
        </p:nvCxnSpPr>
        <p:spPr>
          <a:xfrm>
            <a:off x="10831608" y="4280043"/>
            <a:ext cx="188374" cy="194402"/>
          </a:xfrm>
          <a:prstGeom prst="line">
            <a:avLst/>
          </a:prstGeom>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FAFE9B79-AB18-2354-73DA-8D1615FDE20A}"/>
              </a:ext>
            </a:extLst>
          </p:cNvPr>
          <p:cNvSpPr/>
          <p:nvPr/>
        </p:nvSpPr>
        <p:spPr>
          <a:xfrm>
            <a:off x="8610442" y="859072"/>
            <a:ext cx="2440936" cy="155177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9EE0F7F8-5F30-8BCA-C3DC-594EBB0D0AD0}"/>
              </a:ext>
            </a:extLst>
          </p:cNvPr>
          <p:cNvSpPr txBox="1"/>
          <p:nvPr/>
        </p:nvSpPr>
        <p:spPr>
          <a:xfrm>
            <a:off x="9108602" y="427569"/>
            <a:ext cx="1510112" cy="369332"/>
          </a:xfrm>
          <a:prstGeom prst="rect">
            <a:avLst/>
          </a:prstGeom>
          <a:noFill/>
        </p:spPr>
        <p:txBody>
          <a:bodyPr wrap="square">
            <a:spAutoFit/>
          </a:bodyPr>
          <a:lstStyle/>
          <a:p>
            <a:r>
              <a:rPr lang="en-US" dirty="0" err="1"/>
              <a:t>SmartPhone</a:t>
            </a:r>
            <a:endParaRPr lang="en-US" dirty="0"/>
          </a:p>
        </p:txBody>
      </p:sp>
      <p:sp>
        <p:nvSpPr>
          <p:cNvPr id="74" name="TextBox 73">
            <a:extLst>
              <a:ext uri="{FF2B5EF4-FFF2-40B4-BE49-F238E27FC236}">
                <a16:creationId xmlns:a16="http://schemas.microsoft.com/office/drawing/2014/main" id="{DB95DD90-5AD3-C3E8-1613-7C63E2774A16}"/>
              </a:ext>
            </a:extLst>
          </p:cNvPr>
          <p:cNvSpPr txBox="1"/>
          <p:nvPr/>
        </p:nvSpPr>
        <p:spPr>
          <a:xfrm>
            <a:off x="8683501" y="878273"/>
            <a:ext cx="2273690" cy="1754326"/>
          </a:xfrm>
          <a:prstGeom prst="rect">
            <a:avLst/>
          </a:prstGeom>
          <a:noFill/>
        </p:spPr>
        <p:txBody>
          <a:bodyPr wrap="square">
            <a:spAutoFit/>
          </a:bodyPr>
          <a:lstStyle/>
          <a:p>
            <a:r>
              <a:rPr lang="en-US" dirty="0"/>
              <a:t>Phone App which displays GPS coordinates on a map (or on a list). STM has an app</a:t>
            </a:r>
          </a:p>
          <a:p>
            <a:endParaRPr lang="en-US" dirty="0"/>
          </a:p>
        </p:txBody>
      </p:sp>
      <p:cxnSp>
        <p:nvCxnSpPr>
          <p:cNvPr id="75" name="Straight Connector 74">
            <a:extLst>
              <a:ext uri="{FF2B5EF4-FFF2-40B4-BE49-F238E27FC236}">
                <a16:creationId xmlns:a16="http://schemas.microsoft.com/office/drawing/2014/main" id="{1FE158DE-2FAC-9BD1-8895-9D586906298C}"/>
              </a:ext>
            </a:extLst>
          </p:cNvPr>
          <p:cNvCxnSpPr>
            <a:cxnSpLocks/>
          </p:cNvCxnSpPr>
          <p:nvPr/>
        </p:nvCxnSpPr>
        <p:spPr>
          <a:xfrm flipH="1">
            <a:off x="11082774" y="2321581"/>
            <a:ext cx="65165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6737360C-B297-9140-1314-D0877650080B}"/>
              </a:ext>
            </a:extLst>
          </p:cNvPr>
          <p:cNvCxnSpPr>
            <a:cxnSpLocks/>
          </p:cNvCxnSpPr>
          <p:nvPr/>
        </p:nvCxnSpPr>
        <p:spPr>
          <a:xfrm flipV="1">
            <a:off x="11734431" y="2321581"/>
            <a:ext cx="0" cy="484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80C7000-4500-A822-6BD8-7CE548D98895}"/>
              </a:ext>
            </a:extLst>
          </p:cNvPr>
          <p:cNvCxnSpPr>
            <a:cxnSpLocks/>
          </p:cNvCxnSpPr>
          <p:nvPr/>
        </p:nvCxnSpPr>
        <p:spPr>
          <a:xfrm flipH="1" flipV="1">
            <a:off x="11734431" y="2790547"/>
            <a:ext cx="96191" cy="195970"/>
          </a:xfrm>
          <a:prstGeom prst="line">
            <a:avLst/>
          </a:prstGeom>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F0FC29EB-E726-FA1D-B843-53CC0E5987B5}"/>
              </a:ext>
            </a:extLst>
          </p:cNvPr>
          <p:cNvSpPr txBox="1"/>
          <p:nvPr/>
        </p:nvSpPr>
        <p:spPr>
          <a:xfrm>
            <a:off x="10744335" y="2712734"/>
            <a:ext cx="1004877" cy="307777"/>
          </a:xfrm>
          <a:prstGeom prst="rect">
            <a:avLst/>
          </a:prstGeom>
          <a:noFill/>
        </p:spPr>
        <p:txBody>
          <a:bodyPr wrap="square" rtlCol="0">
            <a:spAutoFit/>
          </a:bodyPr>
          <a:lstStyle/>
          <a:p>
            <a:r>
              <a:rPr lang="en-US" sz="1400" dirty="0"/>
              <a:t>Bluetooth</a:t>
            </a:r>
          </a:p>
        </p:txBody>
      </p:sp>
      <p:cxnSp>
        <p:nvCxnSpPr>
          <p:cNvPr id="79" name="Straight Connector 78">
            <a:extLst>
              <a:ext uri="{FF2B5EF4-FFF2-40B4-BE49-F238E27FC236}">
                <a16:creationId xmlns:a16="http://schemas.microsoft.com/office/drawing/2014/main" id="{277AA918-98AA-A112-49A5-12DD893C58E8}"/>
              </a:ext>
            </a:extLst>
          </p:cNvPr>
          <p:cNvCxnSpPr>
            <a:cxnSpLocks/>
          </p:cNvCxnSpPr>
          <p:nvPr/>
        </p:nvCxnSpPr>
        <p:spPr>
          <a:xfrm flipV="1">
            <a:off x="11628185" y="2790547"/>
            <a:ext cx="106246" cy="195970"/>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38045DE-FD2D-905E-8204-86024959F108}"/>
              </a:ext>
            </a:extLst>
          </p:cNvPr>
          <p:cNvCxnSpPr>
            <a:cxnSpLocks/>
          </p:cNvCxnSpPr>
          <p:nvPr/>
        </p:nvCxnSpPr>
        <p:spPr>
          <a:xfrm>
            <a:off x="11628185" y="2986517"/>
            <a:ext cx="2024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953734C6-C5B1-A395-AC4A-88EB2A7EEB52}"/>
              </a:ext>
            </a:extLst>
          </p:cNvPr>
          <p:cNvCxnSpPr/>
          <p:nvPr/>
        </p:nvCxnSpPr>
        <p:spPr>
          <a:xfrm>
            <a:off x="6864877" y="5158842"/>
            <a:ext cx="655385" cy="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0A0ABD36-476D-4A80-1D02-A06C456C327F}"/>
              </a:ext>
            </a:extLst>
          </p:cNvPr>
          <p:cNvCxnSpPr>
            <a:cxnSpLocks/>
          </p:cNvCxnSpPr>
          <p:nvPr/>
        </p:nvCxnSpPr>
        <p:spPr>
          <a:xfrm flipV="1">
            <a:off x="11175237" y="3038026"/>
            <a:ext cx="506071" cy="1260585"/>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23EDA5AC-008C-D929-EB2C-95762993DD15}"/>
              </a:ext>
            </a:extLst>
          </p:cNvPr>
          <p:cNvSpPr txBox="1"/>
          <p:nvPr/>
        </p:nvSpPr>
        <p:spPr>
          <a:xfrm>
            <a:off x="4019405" y="3296863"/>
            <a:ext cx="2443449" cy="369332"/>
          </a:xfrm>
          <a:prstGeom prst="rect">
            <a:avLst/>
          </a:prstGeom>
          <a:noFill/>
        </p:spPr>
        <p:txBody>
          <a:bodyPr wrap="square" rtlCol="0">
            <a:spAutoFit/>
          </a:bodyPr>
          <a:lstStyle/>
          <a:p>
            <a:r>
              <a:rPr lang="en-US" dirty="0">
                <a:solidFill>
                  <a:srgbClr val="FF0000"/>
                </a:solidFill>
              </a:rPr>
              <a:t>Relay board</a:t>
            </a:r>
          </a:p>
        </p:txBody>
      </p:sp>
      <p:sp>
        <p:nvSpPr>
          <p:cNvPr id="97" name="TextBox 96">
            <a:extLst>
              <a:ext uri="{FF2B5EF4-FFF2-40B4-BE49-F238E27FC236}">
                <a16:creationId xmlns:a16="http://schemas.microsoft.com/office/drawing/2014/main" id="{C39AB25D-A8C0-85A9-2F08-67B1F8C2CBAA}"/>
              </a:ext>
            </a:extLst>
          </p:cNvPr>
          <p:cNvSpPr txBox="1"/>
          <p:nvPr/>
        </p:nvSpPr>
        <p:spPr>
          <a:xfrm>
            <a:off x="7792623" y="3506381"/>
            <a:ext cx="3164568" cy="369332"/>
          </a:xfrm>
          <a:prstGeom prst="rect">
            <a:avLst/>
          </a:prstGeom>
          <a:noFill/>
        </p:spPr>
        <p:txBody>
          <a:bodyPr wrap="square" rtlCol="0">
            <a:spAutoFit/>
          </a:bodyPr>
          <a:lstStyle/>
          <a:p>
            <a:r>
              <a:rPr lang="en-US" dirty="0">
                <a:solidFill>
                  <a:srgbClr val="FF0000"/>
                </a:solidFill>
              </a:rPr>
              <a:t>Receiver with Bluetooth board </a:t>
            </a:r>
          </a:p>
        </p:txBody>
      </p:sp>
      <p:cxnSp>
        <p:nvCxnSpPr>
          <p:cNvPr id="98" name="Straight Arrow Connector 97">
            <a:extLst>
              <a:ext uri="{FF2B5EF4-FFF2-40B4-BE49-F238E27FC236}">
                <a16:creationId xmlns:a16="http://schemas.microsoft.com/office/drawing/2014/main" id="{162F4326-8E80-7AC2-61DA-D158E06A9256}"/>
              </a:ext>
            </a:extLst>
          </p:cNvPr>
          <p:cNvCxnSpPr/>
          <p:nvPr/>
        </p:nvCxnSpPr>
        <p:spPr>
          <a:xfrm>
            <a:off x="8834992" y="4711597"/>
            <a:ext cx="655385" cy="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7AB9A97-53D8-F2EF-8B20-806E377FDF0C}"/>
              </a:ext>
            </a:extLst>
          </p:cNvPr>
          <p:cNvSpPr txBox="1"/>
          <p:nvPr/>
        </p:nvSpPr>
        <p:spPr>
          <a:xfrm>
            <a:off x="7968640" y="6376650"/>
            <a:ext cx="3537976" cy="369332"/>
          </a:xfrm>
          <a:prstGeom prst="rect">
            <a:avLst/>
          </a:prstGeom>
          <a:noFill/>
        </p:spPr>
        <p:txBody>
          <a:bodyPr wrap="square" rtlCol="0">
            <a:spAutoFit/>
          </a:bodyPr>
          <a:lstStyle/>
          <a:p>
            <a:r>
              <a:rPr lang="en-US" dirty="0">
                <a:solidFill>
                  <a:srgbClr val="FF0000"/>
                </a:solidFill>
              </a:rPr>
              <a:t>Base Station</a:t>
            </a:r>
          </a:p>
        </p:txBody>
      </p:sp>
      <p:cxnSp>
        <p:nvCxnSpPr>
          <p:cNvPr id="23" name="Straight Arrow Connector 22">
            <a:extLst>
              <a:ext uri="{FF2B5EF4-FFF2-40B4-BE49-F238E27FC236}">
                <a16:creationId xmlns:a16="http://schemas.microsoft.com/office/drawing/2014/main" id="{B9210FC8-2024-4DAD-C67F-BA9C37671A58}"/>
              </a:ext>
            </a:extLst>
          </p:cNvPr>
          <p:cNvCxnSpPr>
            <a:cxnSpLocks/>
          </p:cNvCxnSpPr>
          <p:nvPr/>
        </p:nvCxnSpPr>
        <p:spPr>
          <a:xfrm flipV="1">
            <a:off x="2730127" y="4628747"/>
            <a:ext cx="868606" cy="810325"/>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4851CAB-0292-9C9F-30FA-3E7EB73363A9}"/>
              </a:ext>
            </a:extLst>
          </p:cNvPr>
          <p:cNvCxnSpPr>
            <a:cxnSpLocks/>
          </p:cNvCxnSpPr>
          <p:nvPr/>
        </p:nvCxnSpPr>
        <p:spPr>
          <a:xfrm>
            <a:off x="3159532" y="1684841"/>
            <a:ext cx="534558" cy="2138198"/>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E11E2B71-C651-FC1A-8DFD-D86784838653}"/>
              </a:ext>
            </a:extLst>
          </p:cNvPr>
          <p:cNvSpPr txBox="1"/>
          <p:nvPr/>
        </p:nvSpPr>
        <p:spPr>
          <a:xfrm>
            <a:off x="3293965" y="1646085"/>
            <a:ext cx="2700638" cy="646331"/>
          </a:xfrm>
          <a:prstGeom prst="rect">
            <a:avLst/>
          </a:prstGeom>
          <a:noFill/>
        </p:spPr>
        <p:txBody>
          <a:bodyPr wrap="square" rtlCol="0">
            <a:spAutoFit/>
          </a:bodyPr>
          <a:lstStyle/>
          <a:p>
            <a:r>
              <a:rPr lang="en-US" dirty="0"/>
              <a:t>Data sent by TX Boards: ID+ GPS data</a:t>
            </a:r>
          </a:p>
        </p:txBody>
      </p:sp>
      <p:sp>
        <p:nvSpPr>
          <p:cNvPr id="44" name="TextBox 43">
            <a:extLst>
              <a:ext uri="{FF2B5EF4-FFF2-40B4-BE49-F238E27FC236}">
                <a16:creationId xmlns:a16="http://schemas.microsoft.com/office/drawing/2014/main" id="{2A0A9313-7EF4-0B38-6F44-E4322E7B94A6}"/>
              </a:ext>
            </a:extLst>
          </p:cNvPr>
          <p:cNvSpPr txBox="1"/>
          <p:nvPr/>
        </p:nvSpPr>
        <p:spPr>
          <a:xfrm>
            <a:off x="3621668" y="2610083"/>
            <a:ext cx="3085240" cy="646331"/>
          </a:xfrm>
          <a:prstGeom prst="rect">
            <a:avLst/>
          </a:prstGeom>
          <a:noFill/>
        </p:spPr>
        <p:txBody>
          <a:bodyPr wrap="square" rtlCol="0">
            <a:spAutoFit/>
          </a:bodyPr>
          <a:lstStyle/>
          <a:p>
            <a:r>
              <a:rPr lang="en-US" dirty="0"/>
              <a:t>“Hello” and Shut off signal sent from Relay Board</a:t>
            </a:r>
          </a:p>
        </p:txBody>
      </p:sp>
      <p:sp>
        <p:nvSpPr>
          <p:cNvPr id="17" name="TextBox 16">
            <a:extLst>
              <a:ext uri="{FF2B5EF4-FFF2-40B4-BE49-F238E27FC236}">
                <a16:creationId xmlns:a16="http://schemas.microsoft.com/office/drawing/2014/main" id="{361450FD-71C9-FDB5-4D1B-742BA859E15A}"/>
              </a:ext>
            </a:extLst>
          </p:cNvPr>
          <p:cNvSpPr txBox="1"/>
          <p:nvPr/>
        </p:nvSpPr>
        <p:spPr>
          <a:xfrm>
            <a:off x="4324744" y="5546104"/>
            <a:ext cx="1397124" cy="646331"/>
          </a:xfrm>
          <a:prstGeom prst="rect">
            <a:avLst/>
          </a:prstGeom>
          <a:noFill/>
        </p:spPr>
        <p:txBody>
          <a:bodyPr wrap="square" rtlCol="0">
            <a:spAutoFit/>
          </a:bodyPr>
          <a:lstStyle/>
          <a:p>
            <a:r>
              <a:rPr lang="en-US" dirty="0"/>
              <a:t>Board Not developed</a:t>
            </a:r>
          </a:p>
        </p:txBody>
      </p:sp>
      <p:sp>
        <p:nvSpPr>
          <p:cNvPr id="19" name="TextBox 18">
            <a:extLst>
              <a:ext uri="{FF2B5EF4-FFF2-40B4-BE49-F238E27FC236}">
                <a16:creationId xmlns:a16="http://schemas.microsoft.com/office/drawing/2014/main" id="{FB5FE3E0-1EE8-1A4D-4DBC-54E6B5490A27}"/>
              </a:ext>
            </a:extLst>
          </p:cNvPr>
          <p:cNvSpPr txBox="1"/>
          <p:nvPr/>
        </p:nvSpPr>
        <p:spPr>
          <a:xfrm>
            <a:off x="7926779" y="5559364"/>
            <a:ext cx="1397124" cy="646331"/>
          </a:xfrm>
          <a:prstGeom prst="rect">
            <a:avLst/>
          </a:prstGeom>
          <a:noFill/>
        </p:spPr>
        <p:txBody>
          <a:bodyPr wrap="square" rtlCol="0">
            <a:spAutoFit/>
          </a:bodyPr>
          <a:lstStyle/>
          <a:p>
            <a:r>
              <a:rPr lang="en-US" dirty="0"/>
              <a:t>Not developed</a:t>
            </a:r>
          </a:p>
        </p:txBody>
      </p:sp>
      <p:cxnSp>
        <p:nvCxnSpPr>
          <p:cNvPr id="32" name="Straight Arrow Connector 31">
            <a:extLst>
              <a:ext uri="{FF2B5EF4-FFF2-40B4-BE49-F238E27FC236}">
                <a16:creationId xmlns:a16="http://schemas.microsoft.com/office/drawing/2014/main" id="{D7034C47-B671-FDA9-A34D-60BF4CCB01CD}"/>
              </a:ext>
            </a:extLst>
          </p:cNvPr>
          <p:cNvCxnSpPr/>
          <p:nvPr/>
        </p:nvCxnSpPr>
        <p:spPr>
          <a:xfrm flipV="1">
            <a:off x="655385" y="3219506"/>
            <a:ext cx="2387048" cy="2250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9D4B25B-4117-2D19-50E4-A028C2D9B7C1}"/>
              </a:ext>
            </a:extLst>
          </p:cNvPr>
          <p:cNvSpPr txBox="1"/>
          <p:nvPr/>
        </p:nvSpPr>
        <p:spPr>
          <a:xfrm>
            <a:off x="1221480" y="3071748"/>
            <a:ext cx="1032150" cy="369332"/>
          </a:xfrm>
          <a:prstGeom prst="rect">
            <a:avLst/>
          </a:prstGeom>
          <a:noFill/>
        </p:spPr>
        <p:txBody>
          <a:bodyPr wrap="square" rtlCol="0">
            <a:spAutoFit/>
          </a:bodyPr>
          <a:lstStyle/>
          <a:p>
            <a:r>
              <a:rPr lang="en-US" dirty="0"/>
              <a:t>35 mm</a:t>
            </a:r>
          </a:p>
        </p:txBody>
      </p:sp>
      <p:cxnSp>
        <p:nvCxnSpPr>
          <p:cNvPr id="42" name="Straight Arrow Connector 41">
            <a:extLst>
              <a:ext uri="{FF2B5EF4-FFF2-40B4-BE49-F238E27FC236}">
                <a16:creationId xmlns:a16="http://schemas.microsoft.com/office/drawing/2014/main" id="{E57F4772-FD2E-B964-EB9E-140495167ADA}"/>
              </a:ext>
            </a:extLst>
          </p:cNvPr>
          <p:cNvCxnSpPr>
            <a:cxnSpLocks/>
          </p:cNvCxnSpPr>
          <p:nvPr/>
        </p:nvCxnSpPr>
        <p:spPr>
          <a:xfrm flipV="1">
            <a:off x="467011" y="601139"/>
            <a:ext cx="43681" cy="244967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6E367073-20BC-6053-1D82-3619C127E209}"/>
              </a:ext>
            </a:extLst>
          </p:cNvPr>
          <p:cNvSpPr txBox="1"/>
          <p:nvPr/>
        </p:nvSpPr>
        <p:spPr>
          <a:xfrm>
            <a:off x="90737" y="1031377"/>
            <a:ext cx="220742" cy="1200329"/>
          </a:xfrm>
          <a:prstGeom prst="rect">
            <a:avLst/>
          </a:prstGeom>
          <a:noFill/>
        </p:spPr>
        <p:txBody>
          <a:bodyPr wrap="square" rtlCol="0">
            <a:spAutoFit/>
          </a:bodyPr>
          <a:lstStyle/>
          <a:p>
            <a:r>
              <a:rPr lang="en-US" dirty="0"/>
              <a:t>25 mm</a:t>
            </a:r>
          </a:p>
        </p:txBody>
      </p:sp>
      <p:sp>
        <p:nvSpPr>
          <p:cNvPr id="10" name="TextBox 9">
            <a:extLst>
              <a:ext uri="{FF2B5EF4-FFF2-40B4-BE49-F238E27FC236}">
                <a16:creationId xmlns:a16="http://schemas.microsoft.com/office/drawing/2014/main" id="{65A7FE75-35BC-78AD-5060-EE468847BE26}"/>
              </a:ext>
            </a:extLst>
          </p:cNvPr>
          <p:cNvSpPr txBox="1"/>
          <p:nvPr/>
        </p:nvSpPr>
        <p:spPr>
          <a:xfrm>
            <a:off x="6619588" y="5365053"/>
            <a:ext cx="1266223" cy="1200329"/>
          </a:xfrm>
          <a:prstGeom prst="rect">
            <a:avLst/>
          </a:prstGeom>
          <a:noFill/>
        </p:spPr>
        <p:txBody>
          <a:bodyPr wrap="square" rtlCol="0">
            <a:spAutoFit/>
          </a:bodyPr>
          <a:lstStyle/>
          <a:p>
            <a:r>
              <a:rPr lang="en-US" sz="1200" dirty="0"/>
              <a:t>Relay board sends to the base station the GPS location of TX Boards with IDs</a:t>
            </a:r>
          </a:p>
        </p:txBody>
      </p:sp>
    </p:spTree>
    <p:extLst>
      <p:ext uri="{BB962C8B-B14F-4D97-AF65-F5344CB8AC3E}">
        <p14:creationId xmlns:p14="http://schemas.microsoft.com/office/powerpoint/2010/main" val="3618577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AE01DB-7402-4DE2-C48B-AE9BBC6B00D9}"/>
              </a:ext>
            </a:extLst>
          </p:cNvPr>
          <p:cNvSpPr txBox="1"/>
          <p:nvPr/>
        </p:nvSpPr>
        <p:spPr>
          <a:xfrm>
            <a:off x="215560" y="158292"/>
            <a:ext cx="4909223" cy="523220"/>
          </a:xfrm>
          <a:prstGeom prst="rect">
            <a:avLst/>
          </a:prstGeom>
          <a:noFill/>
        </p:spPr>
        <p:txBody>
          <a:bodyPr wrap="square" rtlCol="0">
            <a:spAutoFit/>
          </a:bodyPr>
          <a:lstStyle/>
          <a:p>
            <a:r>
              <a:rPr lang="en-US" sz="2800" dirty="0"/>
              <a:t>State machine for TX board</a:t>
            </a:r>
          </a:p>
        </p:txBody>
      </p:sp>
      <p:sp>
        <p:nvSpPr>
          <p:cNvPr id="11" name="Oval 10">
            <a:extLst>
              <a:ext uri="{FF2B5EF4-FFF2-40B4-BE49-F238E27FC236}">
                <a16:creationId xmlns:a16="http://schemas.microsoft.com/office/drawing/2014/main" id="{D85B26A7-CE35-04C8-79F1-38E320F9C33F}"/>
              </a:ext>
            </a:extLst>
          </p:cNvPr>
          <p:cNvSpPr/>
          <p:nvPr/>
        </p:nvSpPr>
        <p:spPr>
          <a:xfrm>
            <a:off x="3796918" y="1344886"/>
            <a:ext cx="1063530" cy="81628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F53BE2D-D0BB-040C-D60D-877C3636889C}"/>
              </a:ext>
            </a:extLst>
          </p:cNvPr>
          <p:cNvSpPr txBox="1"/>
          <p:nvPr/>
        </p:nvSpPr>
        <p:spPr>
          <a:xfrm>
            <a:off x="4006877" y="1581990"/>
            <a:ext cx="722101" cy="307777"/>
          </a:xfrm>
          <a:prstGeom prst="rect">
            <a:avLst/>
          </a:prstGeom>
          <a:noFill/>
        </p:spPr>
        <p:txBody>
          <a:bodyPr wrap="square" rtlCol="0">
            <a:spAutoFit/>
          </a:bodyPr>
          <a:lstStyle/>
          <a:p>
            <a:r>
              <a:rPr lang="en-US" sz="1400" dirty="0"/>
              <a:t>Sleep</a:t>
            </a:r>
          </a:p>
        </p:txBody>
      </p:sp>
      <p:sp>
        <p:nvSpPr>
          <p:cNvPr id="19" name="Oval 18">
            <a:extLst>
              <a:ext uri="{FF2B5EF4-FFF2-40B4-BE49-F238E27FC236}">
                <a16:creationId xmlns:a16="http://schemas.microsoft.com/office/drawing/2014/main" id="{6A4376E5-EF7B-3B11-5BB1-B2C4D31FE23C}"/>
              </a:ext>
            </a:extLst>
          </p:cNvPr>
          <p:cNvSpPr/>
          <p:nvPr/>
        </p:nvSpPr>
        <p:spPr>
          <a:xfrm>
            <a:off x="1624728" y="1079227"/>
            <a:ext cx="1094925" cy="82806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95D700E6-5153-7B0E-4B2C-8338572E5E1D}"/>
              </a:ext>
            </a:extLst>
          </p:cNvPr>
          <p:cNvSpPr txBox="1"/>
          <p:nvPr/>
        </p:nvSpPr>
        <p:spPr>
          <a:xfrm>
            <a:off x="60829" y="946533"/>
            <a:ext cx="1465520" cy="954107"/>
          </a:xfrm>
          <a:prstGeom prst="rect">
            <a:avLst/>
          </a:prstGeom>
          <a:noFill/>
        </p:spPr>
        <p:txBody>
          <a:bodyPr wrap="square" rtlCol="0">
            <a:spAutoFit/>
          </a:bodyPr>
          <a:lstStyle/>
          <a:p>
            <a:r>
              <a:rPr lang="en-US" sz="1400" dirty="0"/>
              <a:t>First time power ON. It can happen anytime in April</a:t>
            </a:r>
          </a:p>
        </p:txBody>
      </p:sp>
      <p:sp>
        <p:nvSpPr>
          <p:cNvPr id="49" name="TextBox 48">
            <a:extLst>
              <a:ext uri="{FF2B5EF4-FFF2-40B4-BE49-F238E27FC236}">
                <a16:creationId xmlns:a16="http://schemas.microsoft.com/office/drawing/2014/main" id="{9EDB6DAF-FBDB-C449-8C19-D25AB9803ABF}"/>
              </a:ext>
            </a:extLst>
          </p:cNvPr>
          <p:cNvSpPr txBox="1"/>
          <p:nvPr/>
        </p:nvSpPr>
        <p:spPr>
          <a:xfrm>
            <a:off x="1738537" y="1228048"/>
            <a:ext cx="1126321" cy="507831"/>
          </a:xfrm>
          <a:prstGeom prst="rect">
            <a:avLst/>
          </a:prstGeom>
          <a:noFill/>
        </p:spPr>
        <p:txBody>
          <a:bodyPr wrap="square" rtlCol="0">
            <a:spAutoFit/>
          </a:bodyPr>
          <a:lstStyle/>
          <a:p>
            <a:r>
              <a:rPr lang="en-US" sz="900" dirty="0"/>
              <a:t>Enable GNSS module to obtain date and time</a:t>
            </a:r>
          </a:p>
        </p:txBody>
      </p:sp>
      <p:cxnSp>
        <p:nvCxnSpPr>
          <p:cNvPr id="51" name="Straight Arrow Connector 50">
            <a:extLst>
              <a:ext uri="{FF2B5EF4-FFF2-40B4-BE49-F238E27FC236}">
                <a16:creationId xmlns:a16="http://schemas.microsoft.com/office/drawing/2014/main" id="{897C5BDF-07DF-18DC-ECF7-A8A7FA0C67FC}"/>
              </a:ext>
            </a:extLst>
          </p:cNvPr>
          <p:cNvCxnSpPr>
            <a:cxnSpLocks/>
            <a:stCxn id="49" idx="3"/>
          </p:cNvCxnSpPr>
          <p:nvPr/>
        </p:nvCxnSpPr>
        <p:spPr>
          <a:xfrm>
            <a:off x="2864858" y="1481964"/>
            <a:ext cx="786855" cy="1820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40E9B038-668F-8D93-C09D-6E4E1251E750}"/>
              </a:ext>
            </a:extLst>
          </p:cNvPr>
          <p:cNvSpPr/>
          <p:nvPr/>
        </p:nvSpPr>
        <p:spPr>
          <a:xfrm>
            <a:off x="5530876" y="488698"/>
            <a:ext cx="1562233" cy="106538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49BEE1C2-4AE3-FCCB-764E-A8406977483C}"/>
              </a:ext>
            </a:extLst>
          </p:cNvPr>
          <p:cNvCxnSpPr/>
          <p:nvPr/>
        </p:nvCxnSpPr>
        <p:spPr>
          <a:xfrm flipV="1">
            <a:off x="4630867" y="855533"/>
            <a:ext cx="788817" cy="449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6AEB87F4-63FC-0802-B00A-CFB7F28B6931}"/>
              </a:ext>
            </a:extLst>
          </p:cNvPr>
          <p:cNvSpPr txBox="1"/>
          <p:nvPr/>
        </p:nvSpPr>
        <p:spPr>
          <a:xfrm>
            <a:off x="4318157" y="680555"/>
            <a:ext cx="863739" cy="523220"/>
          </a:xfrm>
          <a:prstGeom prst="rect">
            <a:avLst/>
          </a:prstGeom>
          <a:noFill/>
        </p:spPr>
        <p:txBody>
          <a:bodyPr wrap="square" rtlCol="0">
            <a:spAutoFit/>
          </a:bodyPr>
          <a:lstStyle/>
          <a:p>
            <a:r>
              <a:rPr lang="en-US" sz="1400" dirty="0"/>
              <a:t>July 1</a:t>
            </a:r>
            <a:r>
              <a:rPr lang="en-US" sz="1400" baseline="30000" dirty="0"/>
              <a:t>st</a:t>
            </a:r>
            <a:r>
              <a:rPr lang="en-US" sz="1400" dirty="0"/>
              <a:t> at 8 AM</a:t>
            </a:r>
          </a:p>
        </p:txBody>
      </p:sp>
      <p:sp>
        <p:nvSpPr>
          <p:cNvPr id="57" name="TextBox 56">
            <a:extLst>
              <a:ext uri="{FF2B5EF4-FFF2-40B4-BE49-F238E27FC236}">
                <a16:creationId xmlns:a16="http://schemas.microsoft.com/office/drawing/2014/main" id="{C6030126-1FCC-5C93-59B8-F17008F95C6E}"/>
              </a:ext>
            </a:extLst>
          </p:cNvPr>
          <p:cNvSpPr txBox="1"/>
          <p:nvPr/>
        </p:nvSpPr>
        <p:spPr>
          <a:xfrm>
            <a:off x="5603479" y="576896"/>
            <a:ext cx="1489630" cy="738664"/>
          </a:xfrm>
          <a:prstGeom prst="rect">
            <a:avLst/>
          </a:prstGeom>
          <a:noFill/>
        </p:spPr>
        <p:txBody>
          <a:bodyPr wrap="square" rtlCol="0">
            <a:spAutoFit/>
          </a:bodyPr>
          <a:lstStyle/>
          <a:p>
            <a:r>
              <a:rPr lang="en-US" sz="1400" dirty="0"/>
              <a:t>Turns on GNSS module, Obtains new data</a:t>
            </a:r>
          </a:p>
        </p:txBody>
      </p:sp>
      <p:sp>
        <p:nvSpPr>
          <p:cNvPr id="58" name="TextBox 57">
            <a:extLst>
              <a:ext uri="{FF2B5EF4-FFF2-40B4-BE49-F238E27FC236}">
                <a16:creationId xmlns:a16="http://schemas.microsoft.com/office/drawing/2014/main" id="{E45450C4-530C-9FF3-40F5-05E239D5CAAC}"/>
              </a:ext>
            </a:extLst>
          </p:cNvPr>
          <p:cNvSpPr txBox="1"/>
          <p:nvPr/>
        </p:nvSpPr>
        <p:spPr>
          <a:xfrm>
            <a:off x="-42909" y="2706111"/>
            <a:ext cx="2013250" cy="577081"/>
          </a:xfrm>
          <a:prstGeom prst="rect">
            <a:avLst/>
          </a:prstGeom>
          <a:noFill/>
        </p:spPr>
        <p:txBody>
          <a:bodyPr wrap="square" rtlCol="0">
            <a:spAutoFit/>
          </a:bodyPr>
          <a:lstStyle/>
          <a:p>
            <a:r>
              <a:rPr lang="en-US" sz="1050" dirty="0"/>
              <a:t>Please create an algorithm to correct to the correct </a:t>
            </a:r>
            <a:r>
              <a:rPr lang="en-US" sz="1050" dirty="0" err="1"/>
              <a:t>timezone</a:t>
            </a:r>
            <a:r>
              <a:rPr lang="en-US" sz="1050" dirty="0"/>
              <a:t>. GNSS module works with UTC</a:t>
            </a:r>
          </a:p>
        </p:txBody>
      </p:sp>
      <p:sp>
        <p:nvSpPr>
          <p:cNvPr id="59" name="Oval 58">
            <a:extLst>
              <a:ext uri="{FF2B5EF4-FFF2-40B4-BE49-F238E27FC236}">
                <a16:creationId xmlns:a16="http://schemas.microsoft.com/office/drawing/2014/main" id="{7F4415F1-B34B-E4B9-8D1A-8216C61AFC7C}"/>
              </a:ext>
            </a:extLst>
          </p:cNvPr>
          <p:cNvSpPr/>
          <p:nvPr/>
        </p:nvSpPr>
        <p:spPr>
          <a:xfrm>
            <a:off x="7959466" y="1787685"/>
            <a:ext cx="2405042" cy="118313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Arrow Connector 59">
            <a:extLst>
              <a:ext uri="{FF2B5EF4-FFF2-40B4-BE49-F238E27FC236}">
                <a16:creationId xmlns:a16="http://schemas.microsoft.com/office/drawing/2014/main" id="{5958985F-8189-38BD-9B61-61747BC76F14}"/>
              </a:ext>
            </a:extLst>
          </p:cNvPr>
          <p:cNvCxnSpPr>
            <a:cxnSpLocks/>
          </p:cNvCxnSpPr>
          <p:nvPr/>
        </p:nvCxnSpPr>
        <p:spPr>
          <a:xfrm>
            <a:off x="6994360" y="1303954"/>
            <a:ext cx="965106" cy="6033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3B945A5-B3CA-A94F-C9A0-D9786A806CC4}"/>
              </a:ext>
            </a:extLst>
          </p:cNvPr>
          <p:cNvSpPr txBox="1"/>
          <p:nvPr/>
        </p:nvSpPr>
        <p:spPr>
          <a:xfrm>
            <a:off x="8216518" y="2009920"/>
            <a:ext cx="1489630" cy="738664"/>
          </a:xfrm>
          <a:prstGeom prst="rect">
            <a:avLst/>
          </a:prstGeom>
          <a:noFill/>
        </p:spPr>
        <p:txBody>
          <a:bodyPr wrap="square" rtlCol="0">
            <a:spAutoFit/>
          </a:bodyPr>
          <a:lstStyle/>
          <a:p>
            <a:r>
              <a:rPr lang="en-US" sz="1400" dirty="0"/>
              <a:t>Listens for 5 seconds for the Hello signal</a:t>
            </a:r>
          </a:p>
        </p:txBody>
      </p:sp>
      <p:cxnSp>
        <p:nvCxnSpPr>
          <p:cNvPr id="64" name="Straight Arrow Connector 63">
            <a:extLst>
              <a:ext uri="{FF2B5EF4-FFF2-40B4-BE49-F238E27FC236}">
                <a16:creationId xmlns:a16="http://schemas.microsoft.com/office/drawing/2014/main" id="{474051CC-ACDA-0814-3131-826BD5DBEBE3}"/>
              </a:ext>
            </a:extLst>
          </p:cNvPr>
          <p:cNvCxnSpPr/>
          <p:nvPr/>
        </p:nvCxnSpPr>
        <p:spPr>
          <a:xfrm flipH="1">
            <a:off x="7036563" y="2751049"/>
            <a:ext cx="1055681" cy="5768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56DB62E7-BF4B-C642-6915-E63DAFBCCFFC}"/>
              </a:ext>
            </a:extLst>
          </p:cNvPr>
          <p:cNvCxnSpPr>
            <a:cxnSpLocks/>
          </p:cNvCxnSpPr>
          <p:nvPr/>
        </p:nvCxnSpPr>
        <p:spPr>
          <a:xfrm>
            <a:off x="9756216" y="3039497"/>
            <a:ext cx="726026" cy="6730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114FC561-E031-F791-5015-FCBCB7E9AE55}"/>
              </a:ext>
            </a:extLst>
          </p:cNvPr>
          <p:cNvSpPr txBox="1"/>
          <p:nvPr/>
        </p:nvSpPr>
        <p:spPr>
          <a:xfrm>
            <a:off x="7305297" y="768808"/>
            <a:ext cx="2886829" cy="738664"/>
          </a:xfrm>
          <a:prstGeom prst="rect">
            <a:avLst/>
          </a:prstGeom>
          <a:noFill/>
        </p:spPr>
        <p:txBody>
          <a:bodyPr wrap="square" rtlCol="0">
            <a:spAutoFit/>
          </a:bodyPr>
          <a:lstStyle/>
          <a:p>
            <a:r>
              <a:rPr lang="en-US" sz="1400" dirty="0"/>
              <a:t>Valid signal from GNSS received; if it exceeds 30 seconds use previous location coordinates</a:t>
            </a:r>
          </a:p>
        </p:txBody>
      </p:sp>
      <p:sp>
        <p:nvSpPr>
          <p:cNvPr id="68" name="TextBox 67">
            <a:extLst>
              <a:ext uri="{FF2B5EF4-FFF2-40B4-BE49-F238E27FC236}">
                <a16:creationId xmlns:a16="http://schemas.microsoft.com/office/drawing/2014/main" id="{4D51AE71-9489-A5B4-8962-77F8A2491519}"/>
              </a:ext>
            </a:extLst>
          </p:cNvPr>
          <p:cNvSpPr txBox="1"/>
          <p:nvPr/>
        </p:nvSpPr>
        <p:spPr>
          <a:xfrm>
            <a:off x="2736660" y="948329"/>
            <a:ext cx="1126321" cy="553998"/>
          </a:xfrm>
          <a:prstGeom prst="rect">
            <a:avLst/>
          </a:prstGeom>
          <a:noFill/>
        </p:spPr>
        <p:txBody>
          <a:bodyPr wrap="square" rtlCol="0">
            <a:spAutoFit/>
          </a:bodyPr>
          <a:lstStyle/>
          <a:p>
            <a:r>
              <a:rPr lang="en-US" sz="1000" dirty="0"/>
              <a:t>Valid GNSS signal from GNSS module</a:t>
            </a:r>
          </a:p>
        </p:txBody>
      </p:sp>
      <p:sp>
        <p:nvSpPr>
          <p:cNvPr id="70" name="TextBox 69">
            <a:extLst>
              <a:ext uri="{FF2B5EF4-FFF2-40B4-BE49-F238E27FC236}">
                <a16:creationId xmlns:a16="http://schemas.microsoft.com/office/drawing/2014/main" id="{9D105267-0073-4879-ABEB-6330DF6629A1}"/>
              </a:ext>
            </a:extLst>
          </p:cNvPr>
          <p:cNvSpPr txBox="1"/>
          <p:nvPr/>
        </p:nvSpPr>
        <p:spPr>
          <a:xfrm>
            <a:off x="7279271" y="3129304"/>
            <a:ext cx="2886829" cy="307777"/>
          </a:xfrm>
          <a:prstGeom prst="rect">
            <a:avLst/>
          </a:prstGeom>
          <a:noFill/>
        </p:spPr>
        <p:txBody>
          <a:bodyPr wrap="square" rtlCol="0">
            <a:spAutoFit/>
          </a:bodyPr>
          <a:lstStyle/>
          <a:p>
            <a:r>
              <a:rPr lang="en-US" sz="1400" dirty="0"/>
              <a:t>Hello signal received</a:t>
            </a:r>
          </a:p>
        </p:txBody>
      </p:sp>
      <p:sp>
        <p:nvSpPr>
          <p:cNvPr id="71" name="TextBox 70">
            <a:extLst>
              <a:ext uri="{FF2B5EF4-FFF2-40B4-BE49-F238E27FC236}">
                <a16:creationId xmlns:a16="http://schemas.microsoft.com/office/drawing/2014/main" id="{317C1205-CEC9-B8EA-1D4E-500F57C88B35}"/>
              </a:ext>
            </a:extLst>
          </p:cNvPr>
          <p:cNvSpPr txBox="1"/>
          <p:nvPr/>
        </p:nvSpPr>
        <p:spPr>
          <a:xfrm>
            <a:off x="9747847" y="2885608"/>
            <a:ext cx="2886829" cy="307777"/>
          </a:xfrm>
          <a:prstGeom prst="rect">
            <a:avLst/>
          </a:prstGeom>
          <a:noFill/>
        </p:spPr>
        <p:txBody>
          <a:bodyPr wrap="square" rtlCol="0">
            <a:spAutoFit/>
          </a:bodyPr>
          <a:lstStyle/>
          <a:p>
            <a:r>
              <a:rPr lang="en-US" sz="1400" dirty="0"/>
              <a:t>NO signal received</a:t>
            </a:r>
          </a:p>
        </p:txBody>
      </p:sp>
      <p:sp>
        <p:nvSpPr>
          <p:cNvPr id="73" name="Oval 72">
            <a:extLst>
              <a:ext uri="{FF2B5EF4-FFF2-40B4-BE49-F238E27FC236}">
                <a16:creationId xmlns:a16="http://schemas.microsoft.com/office/drawing/2014/main" id="{D98FA00F-ED81-69DB-3977-FF92BADA5958}"/>
              </a:ext>
            </a:extLst>
          </p:cNvPr>
          <p:cNvSpPr/>
          <p:nvPr/>
        </p:nvSpPr>
        <p:spPr>
          <a:xfrm>
            <a:off x="10482242" y="3624345"/>
            <a:ext cx="1063530" cy="81628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645B16BE-AD69-FB32-D151-B37DA1726447}"/>
              </a:ext>
            </a:extLst>
          </p:cNvPr>
          <p:cNvSpPr txBox="1"/>
          <p:nvPr/>
        </p:nvSpPr>
        <p:spPr>
          <a:xfrm>
            <a:off x="10652956" y="3712542"/>
            <a:ext cx="924211" cy="738664"/>
          </a:xfrm>
          <a:prstGeom prst="rect">
            <a:avLst/>
          </a:prstGeom>
          <a:noFill/>
        </p:spPr>
        <p:txBody>
          <a:bodyPr wrap="square" rtlCol="0">
            <a:spAutoFit/>
          </a:bodyPr>
          <a:lstStyle/>
          <a:p>
            <a:r>
              <a:rPr lang="en-US" sz="1400" dirty="0"/>
              <a:t>Sleep for 25 seconds</a:t>
            </a:r>
          </a:p>
        </p:txBody>
      </p:sp>
      <p:cxnSp>
        <p:nvCxnSpPr>
          <p:cNvPr id="76" name="Straight Arrow Connector 75">
            <a:extLst>
              <a:ext uri="{FF2B5EF4-FFF2-40B4-BE49-F238E27FC236}">
                <a16:creationId xmlns:a16="http://schemas.microsoft.com/office/drawing/2014/main" id="{6A7C32A4-54DD-D921-7ED3-731F7364AE9B}"/>
              </a:ext>
            </a:extLst>
          </p:cNvPr>
          <p:cNvCxnSpPr/>
          <p:nvPr/>
        </p:nvCxnSpPr>
        <p:spPr>
          <a:xfrm flipH="1" flipV="1">
            <a:off x="9473318" y="3184224"/>
            <a:ext cx="761346" cy="651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8" name="Oval 77">
            <a:extLst>
              <a:ext uri="{FF2B5EF4-FFF2-40B4-BE49-F238E27FC236}">
                <a16:creationId xmlns:a16="http://schemas.microsoft.com/office/drawing/2014/main" id="{36D7E153-50CD-6104-CA2E-A70F874E86B0}"/>
              </a:ext>
            </a:extLst>
          </p:cNvPr>
          <p:cNvSpPr/>
          <p:nvPr/>
        </p:nvSpPr>
        <p:spPr>
          <a:xfrm>
            <a:off x="5337271" y="3449959"/>
            <a:ext cx="2405042" cy="118313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DF8C7991-D71F-26F4-C9A3-325A33324B50}"/>
              </a:ext>
            </a:extLst>
          </p:cNvPr>
          <p:cNvSpPr txBox="1"/>
          <p:nvPr/>
        </p:nvSpPr>
        <p:spPr>
          <a:xfrm>
            <a:off x="5668305" y="3712542"/>
            <a:ext cx="1755060" cy="523220"/>
          </a:xfrm>
          <a:prstGeom prst="rect">
            <a:avLst/>
          </a:prstGeom>
          <a:noFill/>
        </p:spPr>
        <p:txBody>
          <a:bodyPr wrap="square" rtlCol="0">
            <a:spAutoFit/>
          </a:bodyPr>
          <a:lstStyle/>
          <a:p>
            <a:r>
              <a:rPr lang="en-US" sz="1400" dirty="0"/>
              <a:t>Transmit GNSS coordinates with ID</a:t>
            </a:r>
          </a:p>
        </p:txBody>
      </p:sp>
      <p:cxnSp>
        <p:nvCxnSpPr>
          <p:cNvPr id="80" name="Straight Arrow Connector 79">
            <a:extLst>
              <a:ext uri="{FF2B5EF4-FFF2-40B4-BE49-F238E27FC236}">
                <a16:creationId xmlns:a16="http://schemas.microsoft.com/office/drawing/2014/main" id="{C5C12903-79CF-540F-313C-FBBE7715BCA7}"/>
              </a:ext>
            </a:extLst>
          </p:cNvPr>
          <p:cNvCxnSpPr/>
          <p:nvPr/>
        </p:nvCxnSpPr>
        <p:spPr>
          <a:xfrm flipH="1">
            <a:off x="4196233" y="4119931"/>
            <a:ext cx="1055681" cy="5768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BE554E96-A55A-18E1-B995-E1DDF1F00122}"/>
              </a:ext>
            </a:extLst>
          </p:cNvPr>
          <p:cNvSpPr/>
          <p:nvPr/>
        </p:nvSpPr>
        <p:spPr>
          <a:xfrm>
            <a:off x="1913115" y="4405290"/>
            <a:ext cx="2405042" cy="118313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368A07F3-D1B1-8AD8-0E12-F19ECF375716}"/>
              </a:ext>
            </a:extLst>
          </p:cNvPr>
          <p:cNvSpPr txBox="1"/>
          <p:nvPr/>
        </p:nvSpPr>
        <p:spPr>
          <a:xfrm>
            <a:off x="2358939" y="4576700"/>
            <a:ext cx="1755060" cy="738664"/>
          </a:xfrm>
          <a:prstGeom prst="rect">
            <a:avLst/>
          </a:prstGeom>
          <a:noFill/>
        </p:spPr>
        <p:txBody>
          <a:bodyPr wrap="square" rtlCol="0">
            <a:spAutoFit/>
          </a:bodyPr>
          <a:lstStyle/>
          <a:p>
            <a:r>
              <a:rPr lang="en-US" sz="1400" dirty="0"/>
              <a:t>Listen for shut off signal from relay board</a:t>
            </a:r>
          </a:p>
        </p:txBody>
      </p:sp>
      <p:cxnSp>
        <p:nvCxnSpPr>
          <p:cNvPr id="84" name="Straight Arrow Connector 83">
            <a:extLst>
              <a:ext uri="{FF2B5EF4-FFF2-40B4-BE49-F238E27FC236}">
                <a16:creationId xmlns:a16="http://schemas.microsoft.com/office/drawing/2014/main" id="{94535984-4FF4-B5EB-239D-34DA1D640C7F}"/>
              </a:ext>
            </a:extLst>
          </p:cNvPr>
          <p:cNvCxnSpPr/>
          <p:nvPr/>
        </p:nvCxnSpPr>
        <p:spPr>
          <a:xfrm flipV="1">
            <a:off x="2798142" y="2187008"/>
            <a:ext cx="998776" cy="21142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2ED86C2C-43FD-C0FA-0CD4-073D8F70AD23}"/>
              </a:ext>
            </a:extLst>
          </p:cNvPr>
          <p:cNvSpPr txBox="1"/>
          <p:nvPr/>
        </p:nvSpPr>
        <p:spPr>
          <a:xfrm>
            <a:off x="3302113" y="3027480"/>
            <a:ext cx="1755060" cy="738664"/>
          </a:xfrm>
          <a:prstGeom prst="rect">
            <a:avLst/>
          </a:prstGeom>
          <a:noFill/>
        </p:spPr>
        <p:txBody>
          <a:bodyPr wrap="square" rtlCol="0">
            <a:spAutoFit/>
          </a:bodyPr>
          <a:lstStyle/>
          <a:p>
            <a:r>
              <a:rPr lang="en-US" sz="1400" dirty="0"/>
              <a:t>If more than 30 seconds pass then go to sleep</a:t>
            </a:r>
          </a:p>
        </p:txBody>
      </p:sp>
      <p:cxnSp>
        <p:nvCxnSpPr>
          <p:cNvPr id="87" name="Straight Arrow Connector 86">
            <a:extLst>
              <a:ext uri="{FF2B5EF4-FFF2-40B4-BE49-F238E27FC236}">
                <a16:creationId xmlns:a16="http://schemas.microsoft.com/office/drawing/2014/main" id="{BAD1CC3F-FA74-213F-7419-0CB43CD1FA6B}"/>
              </a:ext>
            </a:extLst>
          </p:cNvPr>
          <p:cNvCxnSpPr/>
          <p:nvPr/>
        </p:nvCxnSpPr>
        <p:spPr>
          <a:xfrm flipH="1" flipV="1">
            <a:off x="4968371" y="1889767"/>
            <a:ext cx="2805991" cy="457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FA0D2502-BB43-2F72-9BEA-C6A93A3D2690}"/>
              </a:ext>
            </a:extLst>
          </p:cNvPr>
          <p:cNvSpPr txBox="1"/>
          <p:nvPr/>
        </p:nvSpPr>
        <p:spPr>
          <a:xfrm>
            <a:off x="4904879" y="2236211"/>
            <a:ext cx="2886829" cy="523220"/>
          </a:xfrm>
          <a:prstGeom prst="rect">
            <a:avLst/>
          </a:prstGeom>
          <a:noFill/>
        </p:spPr>
        <p:txBody>
          <a:bodyPr wrap="square" rtlCol="0">
            <a:spAutoFit/>
          </a:bodyPr>
          <a:lstStyle/>
          <a:p>
            <a:r>
              <a:rPr lang="en-US" sz="1400" dirty="0"/>
              <a:t>If NO signal is received and is past 10 AM then go to sleep</a:t>
            </a:r>
          </a:p>
        </p:txBody>
      </p:sp>
      <p:sp>
        <p:nvSpPr>
          <p:cNvPr id="89" name="TextBox 88">
            <a:extLst>
              <a:ext uri="{FF2B5EF4-FFF2-40B4-BE49-F238E27FC236}">
                <a16:creationId xmlns:a16="http://schemas.microsoft.com/office/drawing/2014/main" id="{0D98C5D0-01B3-CDAA-7860-7AFF6E4053A8}"/>
              </a:ext>
            </a:extLst>
          </p:cNvPr>
          <p:cNvSpPr txBox="1"/>
          <p:nvPr/>
        </p:nvSpPr>
        <p:spPr>
          <a:xfrm>
            <a:off x="4718690" y="1147158"/>
            <a:ext cx="949615" cy="523220"/>
          </a:xfrm>
          <a:prstGeom prst="rect">
            <a:avLst/>
          </a:prstGeom>
          <a:noFill/>
        </p:spPr>
        <p:txBody>
          <a:bodyPr wrap="square" rtlCol="0">
            <a:spAutoFit/>
          </a:bodyPr>
          <a:lstStyle/>
          <a:p>
            <a:r>
              <a:rPr lang="en-US" sz="1400" dirty="0"/>
              <a:t>Everyday   at 8 AM</a:t>
            </a:r>
          </a:p>
        </p:txBody>
      </p:sp>
    </p:spTree>
    <p:extLst>
      <p:ext uri="{BB962C8B-B14F-4D97-AF65-F5344CB8AC3E}">
        <p14:creationId xmlns:p14="http://schemas.microsoft.com/office/powerpoint/2010/main" val="4059510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06F1D-9C18-402E-DA9C-B3819FDC58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F8D1AE-AD8A-5A82-AA1A-B931F136149D}"/>
              </a:ext>
            </a:extLst>
          </p:cNvPr>
          <p:cNvSpPr txBox="1"/>
          <p:nvPr/>
        </p:nvSpPr>
        <p:spPr>
          <a:xfrm>
            <a:off x="116052" y="-10505"/>
            <a:ext cx="4909223" cy="523220"/>
          </a:xfrm>
          <a:prstGeom prst="rect">
            <a:avLst/>
          </a:prstGeom>
          <a:noFill/>
        </p:spPr>
        <p:txBody>
          <a:bodyPr wrap="square" rtlCol="0">
            <a:spAutoFit/>
          </a:bodyPr>
          <a:lstStyle/>
          <a:p>
            <a:r>
              <a:rPr lang="en-US" sz="2800" dirty="0"/>
              <a:t>State machine for Relay Board</a:t>
            </a:r>
          </a:p>
        </p:txBody>
      </p:sp>
      <p:sp>
        <p:nvSpPr>
          <p:cNvPr id="11" name="Oval 10">
            <a:extLst>
              <a:ext uri="{FF2B5EF4-FFF2-40B4-BE49-F238E27FC236}">
                <a16:creationId xmlns:a16="http://schemas.microsoft.com/office/drawing/2014/main" id="{1F821DD4-83B7-085D-EB3F-FA3B604BF88D}"/>
              </a:ext>
            </a:extLst>
          </p:cNvPr>
          <p:cNvSpPr/>
          <p:nvPr/>
        </p:nvSpPr>
        <p:spPr>
          <a:xfrm>
            <a:off x="3035300" y="1344886"/>
            <a:ext cx="1825148" cy="84212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195C77C-8523-8D56-8028-656F7804F2D6}"/>
              </a:ext>
            </a:extLst>
          </p:cNvPr>
          <p:cNvSpPr txBox="1"/>
          <p:nvPr/>
        </p:nvSpPr>
        <p:spPr>
          <a:xfrm>
            <a:off x="3302113" y="1489134"/>
            <a:ext cx="1521444" cy="523220"/>
          </a:xfrm>
          <a:prstGeom prst="rect">
            <a:avLst/>
          </a:prstGeom>
          <a:noFill/>
        </p:spPr>
        <p:txBody>
          <a:bodyPr wrap="square" rtlCol="0">
            <a:spAutoFit/>
          </a:bodyPr>
          <a:lstStyle/>
          <a:p>
            <a:r>
              <a:rPr lang="en-US" sz="1400" dirty="0"/>
              <a:t>Sending Hello every 10 seconds</a:t>
            </a:r>
          </a:p>
        </p:txBody>
      </p:sp>
      <p:sp>
        <p:nvSpPr>
          <p:cNvPr id="53" name="Oval 52">
            <a:extLst>
              <a:ext uri="{FF2B5EF4-FFF2-40B4-BE49-F238E27FC236}">
                <a16:creationId xmlns:a16="http://schemas.microsoft.com/office/drawing/2014/main" id="{E81ED4C2-0FCF-C5D3-E77A-8B5E866BE905}"/>
              </a:ext>
            </a:extLst>
          </p:cNvPr>
          <p:cNvSpPr/>
          <p:nvPr/>
        </p:nvSpPr>
        <p:spPr>
          <a:xfrm>
            <a:off x="5530876" y="488698"/>
            <a:ext cx="1562233" cy="106538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9B6D5F5A-CF1D-AD12-472E-E147D3900927}"/>
              </a:ext>
            </a:extLst>
          </p:cNvPr>
          <p:cNvCxnSpPr/>
          <p:nvPr/>
        </p:nvCxnSpPr>
        <p:spPr>
          <a:xfrm flipV="1">
            <a:off x="4630867" y="855533"/>
            <a:ext cx="788817" cy="449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EF5161C4-AB76-0543-870B-EDA113FB40E9}"/>
              </a:ext>
            </a:extLst>
          </p:cNvPr>
          <p:cNvSpPr txBox="1"/>
          <p:nvPr/>
        </p:nvSpPr>
        <p:spPr>
          <a:xfrm>
            <a:off x="5603479" y="576896"/>
            <a:ext cx="1489630" cy="738664"/>
          </a:xfrm>
          <a:prstGeom prst="rect">
            <a:avLst/>
          </a:prstGeom>
          <a:noFill/>
        </p:spPr>
        <p:txBody>
          <a:bodyPr wrap="square" rtlCol="0">
            <a:spAutoFit/>
          </a:bodyPr>
          <a:lstStyle/>
          <a:p>
            <a:r>
              <a:rPr lang="en-US" sz="1400" dirty="0"/>
              <a:t>Listen for 8 seconds for GNSS coordinates </a:t>
            </a:r>
          </a:p>
        </p:txBody>
      </p:sp>
      <p:sp>
        <p:nvSpPr>
          <p:cNvPr id="59" name="Oval 58">
            <a:extLst>
              <a:ext uri="{FF2B5EF4-FFF2-40B4-BE49-F238E27FC236}">
                <a16:creationId xmlns:a16="http://schemas.microsoft.com/office/drawing/2014/main" id="{D8B23834-8F5B-B1FB-AEE6-D45E375B49AF}"/>
              </a:ext>
            </a:extLst>
          </p:cNvPr>
          <p:cNvSpPr/>
          <p:nvPr/>
        </p:nvSpPr>
        <p:spPr>
          <a:xfrm>
            <a:off x="7959466" y="1787685"/>
            <a:ext cx="2405042" cy="118313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Arrow Connector 59">
            <a:extLst>
              <a:ext uri="{FF2B5EF4-FFF2-40B4-BE49-F238E27FC236}">
                <a16:creationId xmlns:a16="http://schemas.microsoft.com/office/drawing/2014/main" id="{813CC529-E62C-97E4-04F9-67B5B9FAA9C1}"/>
              </a:ext>
            </a:extLst>
          </p:cNvPr>
          <p:cNvCxnSpPr>
            <a:cxnSpLocks/>
          </p:cNvCxnSpPr>
          <p:nvPr/>
        </p:nvCxnSpPr>
        <p:spPr>
          <a:xfrm>
            <a:off x="6994360" y="1303954"/>
            <a:ext cx="965106" cy="6033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AE71CAEA-EA80-0B03-E465-E06F8454336A}"/>
              </a:ext>
            </a:extLst>
          </p:cNvPr>
          <p:cNvSpPr txBox="1"/>
          <p:nvPr/>
        </p:nvSpPr>
        <p:spPr>
          <a:xfrm>
            <a:off x="8216518" y="2009920"/>
            <a:ext cx="1489630" cy="523220"/>
          </a:xfrm>
          <a:prstGeom prst="rect">
            <a:avLst/>
          </a:prstGeom>
          <a:noFill/>
        </p:spPr>
        <p:txBody>
          <a:bodyPr wrap="square" rtlCol="0">
            <a:spAutoFit/>
          </a:bodyPr>
          <a:lstStyle/>
          <a:p>
            <a:r>
              <a:rPr lang="en-US" sz="1400" dirty="0"/>
              <a:t>Store in  RAM memory</a:t>
            </a:r>
          </a:p>
        </p:txBody>
      </p:sp>
      <p:cxnSp>
        <p:nvCxnSpPr>
          <p:cNvPr id="64" name="Straight Arrow Connector 63">
            <a:extLst>
              <a:ext uri="{FF2B5EF4-FFF2-40B4-BE49-F238E27FC236}">
                <a16:creationId xmlns:a16="http://schemas.microsoft.com/office/drawing/2014/main" id="{2030907C-2A2B-D4CE-3A5C-345E209C7910}"/>
              </a:ext>
            </a:extLst>
          </p:cNvPr>
          <p:cNvCxnSpPr>
            <a:cxnSpLocks/>
          </p:cNvCxnSpPr>
          <p:nvPr/>
        </p:nvCxnSpPr>
        <p:spPr>
          <a:xfrm flipH="1">
            <a:off x="5638800" y="2751049"/>
            <a:ext cx="2453444" cy="20368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51C8D2BB-B015-398C-9FE5-376EEC0D583E}"/>
              </a:ext>
            </a:extLst>
          </p:cNvPr>
          <p:cNvSpPr txBox="1"/>
          <p:nvPr/>
        </p:nvSpPr>
        <p:spPr>
          <a:xfrm>
            <a:off x="7371346" y="815423"/>
            <a:ext cx="2886829" cy="307777"/>
          </a:xfrm>
          <a:prstGeom prst="rect">
            <a:avLst/>
          </a:prstGeom>
          <a:noFill/>
        </p:spPr>
        <p:txBody>
          <a:bodyPr wrap="square" rtlCol="0">
            <a:spAutoFit/>
          </a:bodyPr>
          <a:lstStyle/>
          <a:p>
            <a:r>
              <a:rPr lang="en-US" sz="1400" dirty="0"/>
              <a:t>GNSS coordinate is received</a:t>
            </a:r>
          </a:p>
        </p:txBody>
      </p:sp>
      <p:sp>
        <p:nvSpPr>
          <p:cNvPr id="70" name="TextBox 69">
            <a:extLst>
              <a:ext uri="{FF2B5EF4-FFF2-40B4-BE49-F238E27FC236}">
                <a16:creationId xmlns:a16="http://schemas.microsoft.com/office/drawing/2014/main" id="{735C1470-E459-C424-761F-FFFA926435A0}"/>
              </a:ext>
            </a:extLst>
          </p:cNvPr>
          <p:cNvSpPr txBox="1"/>
          <p:nvPr/>
        </p:nvSpPr>
        <p:spPr>
          <a:xfrm>
            <a:off x="6618871" y="4138711"/>
            <a:ext cx="2886829" cy="307777"/>
          </a:xfrm>
          <a:prstGeom prst="rect">
            <a:avLst/>
          </a:prstGeom>
          <a:noFill/>
        </p:spPr>
        <p:txBody>
          <a:bodyPr wrap="square" rtlCol="0">
            <a:spAutoFit/>
          </a:bodyPr>
          <a:lstStyle/>
          <a:p>
            <a:r>
              <a:rPr lang="en-US" sz="1400" dirty="0"/>
              <a:t>Transmit data to other MCU</a:t>
            </a:r>
          </a:p>
        </p:txBody>
      </p:sp>
      <p:sp>
        <p:nvSpPr>
          <p:cNvPr id="78" name="Oval 77">
            <a:extLst>
              <a:ext uri="{FF2B5EF4-FFF2-40B4-BE49-F238E27FC236}">
                <a16:creationId xmlns:a16="http://schemas.microsoft.com/office/drawing/2014/main" id="{4282A35A-A98F-5E32-F10D-D91F78E47AE6}"/>
              </a:ext>
            </a:extLst>
          </p:cNvPr>
          <p:cNvSpPr/>
          <p:nvPr/>
        </p:nvSpPr>
        <p:spPr>
          <a:xfrm>
            <a:off x="3657927" y="4835803"/>
            <a:ext cx="2405042" cy="118313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F9BC322F-8F86-D84A-FCA5-1206242DD4E3}"/>
              </a:ext>
            </a:extLst>
          </p:cNvPr>
          <p:cNvSpPr txBox="1"/>
          <p:nvPr/>
        </p:nvSpPr>
        <p:spPr>
          <a:xfrm>
            <a:off x="4182405" y="5058038"/>
            <a:ext cx="1755060" cy="738664"/>
          </a:xfrm>
          <a:prstGeom prst="rect">
            <a:avLst/>
          </a:prstGeom>
          <a:noFill/>
        </p:spPr>
        <p:txBody>
          <a:bodyPr wrap="square" rtlCol="0">
            <a:spAutoFit/>
          </a:bodyPr>
          <a:lstStyle/>
          <a:p>
            <a:r>
              <a:rPr lang="en-US" sz="1400" dirty="0"/>
              <a:t>Transmit GNSS coordinates with ID to base station</a:t>
            </a:r>
          </a:p>
        </p:txBody>
      </p:sp>
      <p:cxnSp>
        <p:nvCxnSpPr>
          <p:cNvPr id="3" name="Straight Arrow Connector 2">
            <a:extLst>
              <a:ext uri="{FF2B5EF4-FFF2-40B4-BE49-F238E27FC236}">
                <a16:creationId xmlns:a16="http://schemas.microsoft.com/office/drawing/2014/main" id="{8B72A47D-2FDB-5336-B0AB-8416B3D79361}"/>
              </a:ext>
            </a:extLst>
          </p:cNvPr>
          <p:cNvCxnSpPr>
            <a:cxnSpLocks/>
          </p:cNvCxnSpPr>
          <p:nvPr/>
        </p:nvCxnSpPr>
        <p:spPr>
          <a:xfrm flipH="1">
            <a:off x="4860448" y="1225425"/>
            <a:ext cx="495751" cy="2332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6C1E30C-1BDC-D8CF-11DB-578FB0008F06}"/>
              </a:ext>
            </a:extLst>
          </p:cNvPr>
          <p:cNvCxnSpPr>
            <a:cxnSpLocks/>
          </p:cNvCxnSpPr>
          <p:nvPr/>
        </p:nvCxnSpPr>
        <p:spPr>
          <a:xfrm flipH="1" flipV="1">
            <a:off x="5025275" y="1858763"/>
            <a:ext cx="2840258" cy="4613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48408EB-4565-EA75-9DEE-A856B296C0FC}"/>
              </a:ext>
            </a:extLst>
          </p:cNvPr>
          <p:cNvSpPr txBox="1"/>
          <p:nvPr/>
        </p:nvSpPr>
        <p:spPr>
          <a:xfrm>
            <a:off x="1879600" y="4292600"/>
            <a:ext cx="2150533" cy="646331"/>
          </a:xfrm>
          <a:prstGeom prst="rect">
            <a:avLst/>
          </a:prstGeom>
          <a:noFill/>
        </p:spPr>
        <p:txBody>
          <a:bodyPr wrap="square" rtlCol="0">
            <a:spAutoFit/>
          </a:bodyPr>
          <a:lstStyle/>
          <a:p>
            <a:r>
              <a:rPr lang="en-US" dirty="0">
                <a:solidFill>
                  <a:srgbClr val="FF0000"/>
                </a:solidFill>
              </a:rPr>
              <a:t>OTHER STM32WLE CBU6 MCU</a:t>
            </a:r>
          </a:p>
        </p:txBody>
      </p:sp>
      <p:sp>
        <p:nvSpPr>
          <p:cNvPr id="12" name="TextBox 11">
            <a:extLst>
              <a:ext uri="{FF2B5EF4-FFF2-40B4-BE49-F238E27FC236}">
                <a16:creationId xmlns:a16="http://schemas.microsoft.com/office/drawing/2014/main" id="{3D92C902-45A2-DC5E-2A0F-07955A77A69E}"/>
              </a:ext>
            </a:extLst>
          </p:cNvPr>
          <p:cNvSpPr txBox="1"/>
          <p:nvPr/>
        </p:nvSpPr>
        <p:spPr>
          <a:xfrm>
            <a:off x="4904879" y="2273463"/>
            <a:ext cx="2886829" cy="307777"/>
          </a:xfrm>
          <a:prstGeom prst="rect">
            <a:avLst/>
          </a:prstGeom>
          <a:noFill/>
        </p:spPr>
        <p:txBody>
          <a:bodyPr wrap="square" rtlCol="0">
            <a:spAutoFit/>
          </a:bodyPr>
          <a:lstStyle/>
          <a:p>
            <a:r>
              <a:rPr lang="en-US" sz="1400" dirty="0"/>
              <a:t>Send Shut off signal to that TX Board</a:t>
            </a:r>
          </a:p>
        </p:txBody>
      </p:sp>
    </p:spTree>
    <p:extLst>
      <p:ext uri="{BB962C8B-B14F-4D97-AF65-F5344CB8AC3E}">
        <p14:creationId xmlns:p14="http://schemas.microsoft.com/office/powerpoint/2010/main" val="589984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2973C-8422-779B-24B8-1C5EEADBCAA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54C8259-2DCA-B6E0-0269-2C4D3B23930A}"/>
              </a:ext>
            </a:extLst>
          </p:cNvPr>
          <p:cNvSpPr txBox="1"/>
          <p:nvPr/>
        </p:nvSpPr>
        <p:spPr>
          <a:xfrm>
            <a:off x="116052" y="-10505"/>
            <a:ext cx="5653981" cy="523220"/>
          </a:xfrm>
          <a:prstGeom prst="rect">
            <a:avLst/>
          </a:prstGeom>
          <a:noFill/>
        </p:spPr>
        <p:txBody>
          <a:bodyPr wrap="square" rtlCol="0">
            <a:spAutoFit/>
          </a:bodyPr>
          <a:lstStyle/>
          <a:p>
            <a:r>
              <a:rPr lang="en-US" sz="2800" dirty="0"/>
              <a:t>State machine for Base Station Board</a:t>
            </a:r>
          </a:p>
        </p:txBody>
      </p:sp>
      <p:sp>
        <p:nvSpPr>
          <p:cNvPr id="11" name="Oval 10">
            <a:extLst>
              <a:ext uri="{FF2B5EF4-FFF2-40B4-BE49-F238E27FC236}">
                <a16:creationId xmlns:a16="http://schemas.microsoft.com/office/drawing/2014/main" id="{4169101D-F5C8-5211-5CC5-0E0680292900}"/>
              </a:ext>
            </a:extLst>
          </p:cNvPr>
          <p:cNvSpPr/>
          <p:nvPr/>
        </p:nvSpPr>
        <p:spPr>
          <a:xfrm>
            <a:off x="3035300" y="1344886"/>
            <a:ext cx="1825148" cy="84212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314AFD3-2F3E-3734-5109-CB3FE64874C5}"/>
              </a:ext>
            </a:extLst>
          </p:cNvPr>
          <p:cNvSpPr txBox="1"/>
          <p:nvPr/>
        </p:nvSpPr>
        <p:spPr>
          <a:xfrm>
            <a:off x="3302113" y="1489134"/>
            <a:ext cx="1521444" cy="523220"/>
          </a:xfrm>
          <a:prstGeom prst="rect">
            <a:avLst/>
          </a:prstGeom>
          <a:noFill/>
        </p:spPr>
        <p:txBody>
          <a:bodyPr wrap="square" rtlCol="0">
            <a:spAutoFit/>
          </a:bodyPr>
          <a:lstStyle/>
          <a:p>
            <a:r>
              <a:rPr lang="en-US" sz="1400" dirty="0"/>
              <a:t>Listen for data from relay board</a:t>
            </a:r>
          </a:p>
        </p:txBody>
      </p:sp>
      <p:sp>
        <p:nvSpPr>
          <p:cNvPr id="53" name="Oval 52">
            <a:extLst>
              <a:ext uri="{FF2B5EF4-FFF2-40B4-BE49-F238E27FC236}">
                <a16:creationId xmlns:a16="http://schemas.microsoft.com/office/drawing/2014/main" id="{072A2260-47A0-6C59-B1EC-E18439AF8EC2}"/>
              </a:ext>
            </a:extLst>
          </p:cNvPr>
          <p:cNvSpPr/>
          <p:nvPr/>
        </p:nvSpPr>
        <p:spPr>
          <a:xfrm>
            <a:off x="5530876" y="488698"/>
            <a:ext cx="1562233" cy="106538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F68FE0B8-031B-651B-569C-F1E3338A6652}"/>
              </a:ext>
            </a:extLst>
          </p:cNvPr>
          <p:cNvCxnSpPr/>
          <p:nvPr/>
        </p:nvCxnSpPr>
        <p:spPr>
          <a:xfrm flipV="1">
            <a:off x="4630867" y="855533"/>
            <a:ext cx="788817" cy="449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82E44E9A-EE5B-B883-7210-73B9A4AFDEC5}"/>
              </a:ext>
            </a:extLst>
          </p:cNvPr>
          <p:cNvSpPr txBox="1"/>
          <p:nvPr/>
        </p:nvSpPr>
        <p:spPr>
          <a:xfrm>
            <a:off x="5691717" y="702205"/>
            <a:ext cx="1489630" cy="523220"/>
          </a:xfrm>
          <a:prstGeom prst="rect">
            <a:avLst/>
          </a:prstGeom>
          <a:noFill/>
        </p:spPr>
        <p:txBody>
          <a:bodyPr wrap="square" rtlCol="0">
            <a:spAutoFit/>
          </a:bodyPr>
          <a:lstStyle/>
          <a:p>
            <a:r>
              <a:rPr lang="en-US" sz="1400" dirty="0"/>
              <a:t>Send data to Bluetooth MCU</a:t>
            </a:r>
          </a:p>
        </p:txBody>
      </p:sp>
      <p:cxnSp>
        <p:nvCxnSpPr>
          <p:cNvPr id="3" name="Straight Arrow Connector 2">
            <a:extLst>
              <a:ext uri="{FF2B5EF4-FFF2-40B4-BE49-F238E27FC236}">
                <a16:creationId xmlns:a16="http://schemas.microsoft.com/office/drawing/2014/main" id="{732212F3-7C72-C73F-97C7-6F6CC8BAD9E6}"/>
              </a:ext>
            </a:extLst>
          </p:cNvPr>
          <p:cNvCxnSpPr>
            <a:cxnSpLocks/>
          </p:cNvCxnSpPr>
          <p:nvPr/>
        </p:nvCxnSpPr>
        <p:spPr>
          <a:xfrm flipH="1">
            <a:off x="4860448" y="1225425"/>
            <a:ext cx="495751" cy="2332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EA493403-1823-AF74-A14C-4ECF528E94D1}"/>
              </a:ext>
            </a:extLst>
          </p:cNvPr>
          <p:cNvCxnSpPr>
            <a:cxnSpLocks/>
          </p:cNvCxnSpPr>
          <p:nvPr/>
        </p:nvCxnSpPr>
        <p:spPr>
          <a:xfrm>
            <a:off x="7052334" y="1342073"/>
            <a:ext cx="1355066" cy="6702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4FA3D370-5A14-3B75-4AF3-98E74C8ACF9B}"/>
              </a:ext>
            </a:extLst>
          </p:cNvPr>
          <p:cNvSpPr/>
          <p:nvPr/>
        </p:nvSpPr>
        <p:spPr>
          <a:xfrm>
            <a:off x="8375583" y="1696948"/>
            <a:ext cx="1562233" cy="106538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569B510-54D4-ED04-FF43-8348745609D5}"/>
              </a:ext>
            </a:extLst>
          </p:cNvPr>
          <p:cNvSpPr txBox="1"/>
          <p:nvPr/>
        </p:nvSpPr>
        <p:spPr>
          <a:xfrm>
            <a:off x="8448186" y="1925398"/>
            <a:ext cx="1489630" cy="738664"/>
          </a:xfrm>
          <a:prstGeom prst="rect">
            <a:avLst/>
          </a:prstGeom>
          <a:noFill/>
        </p:spPr>
        <p:txBody>
          <a:bodyPr wrap="square" rtlCol="0">
            <a:spAutoFit/>
          </a:bodyPr>
          <a:lstStyle/>
          <a:p>
            <a:r>
              <a:rPr lang="en-US" sz="1400" dirty="0"/>
              <a:t>Send data to smartphone app thru </a:t>
            </a:r>
            <a:r>
              <a:rPr lang="en-US" sz="1400" dirty="0" err="1"/>
              <a:t>Blueooth</a:t>
            </a:r>
            <a:endParaRPr lang="en-US" sz="1400" dirty="0"/>
          </a:p>
        </p:txBody>
      </p:sp>
      <p:sp>
        <p:nvSpPr>
          <p:cNvPr id="10" name="TextBox 9">
            <a:extLst>
              <a:ext uri="{FF2B5EF4-FFF2-40B4-BE49-F238E27FC236}">
                <a16:creationId xmlns:a16="http://schemas.microsoft.com/office/drawing/2014/main" id="{E26E949A-5159-477B-9794-A3F161BEE9A9}"/>
              </a:ext>
            </a:extLst>
          </p:cNvPr>
          <p:cNvSpPr txBox="1"/>
          <p:nvPr/>
        </p:nvSpPr>
        <p:spPr>
          <a:xfrm>
            <a:off x="7488767" y="812390"/>
            <a:ext cx="2150533" cy="369332"/>
          </a:xfrm>
          <a:prstGeom prst="rect">
            <a:avLst/>
          </a:prstGeom>
          <a:noFill/>
        </p:spPr>
        <p:txBody>
          <a:bodyPr wrap="square" rtlCol="0">
            <a:spAutoFit/>
          </a:bodyPr>
          <a:lstStyle/>
          <a:p>
            <a:r>
              <a:rPr lang="en-US" dirty="0" err="1">
                <a:solidFill>
                  <a:srgbClr val="FF0000"/>
                </a:solidFill>
              </a:rPr>
              <a:t>Bluetooh</a:t>
            </a:r>
            <a:r>
              <a:rPr lang="en-US" dirty="0">
                <a:solidFill>
                  <a:srgbClr val="FF0000"/>
                </a:solidFill>
              </a:rPr>
              <a:t> MCU</a:t>
            </a:r>
          </a:p>
        </p:txBody>
      </p:sp>
    </p:spTree>
    <p:extLst>
      <p:ext uri="{BB962C8B-B14F-4D97-AF65-F5344CB8AC3E}">
        <p14:creationId xmlns:p14="http://schemas.microsoft.com/office/powerpoint/2010/main" val="394892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B99ADD-91CD-307E-9CF0-9D1639A9CDD2}"/>
              </a:ext>
            </a:extLst>
          </p:cNvPr>
          <p:cNvSpPr txBox="1"/>
          <p:nvPr/>
        </p:nvSpPr>
        <p:spPr>
          <a:xfrm>
            <a:off x="533726" y="168752"/>
            <a:ext cx="9189007" cy="7294305"/>
          </a:xfrm>
          <a:prstGeom prst="rect">
            <a:avLst/>
          </a:prstGeom>
          <a:noFill/>
        </p:spPr>
        <p:txBody>
          <a:bodyPr wrap="square" rtlCol="0">
            <a:spAutoFit/>
          </a:bodyPr>
          <a:lstStyle/>
          <a:p>
            <a:endParaRPr lang="en-US" dirty="0"/>
          </a:p>
          <a:p>
            <a:r>
              <a:rPr lang="en-US" b="1" dirty="0"/>
              <a:t>Logistics:</a:t>
            </a:r>
          </a:p>
          <a:p>
            <a:endParaRPr lang="en-US" dirty="0"/>
          </a:p>
          <a:p>
            <a:r>
              <a:rPr lang="en-US" dirty="0"/>
              <a:t>I’m shipping from JLCPCB in Mainland China, 4 layer layout the board goes to you and me so that we can debug together</a:t>
            </a:r>
          </a:p>
          <a:p>
            <a:endParaRPr lang="en-US" dirty="0"/>
          </a:p>
          <a:p>
            <a:endParaRPr lang="en-US" dirty="0"/>
          </a:p>
          <a:p>
            <a:r>
              <a:rPr lang="en-US" dirty="0"/>
              <a:t>Before start programming, let’s put a finite state machine diagram</a:t>
            </a:r>
          </a:p>
          <a:p>
            <a:endParaRPr lang="en-US" dirty="0"/>
          </a:p>
          <a:p>
            <a:r>
              <a:rPr lang="en-US" dirty="0"/>
              <a:t>App: can you develop the app (iPhone or Android)? If so, please provide a budget?</a:t>
            </a:r>
          </a:p>
          <a:p>
            <a:endParaRPr lang="en-US" dirty="0"/>
          </a:p>
          <a:p>
            <a:r>
              <a:rPr lang="en-US" dirty="0"/>
              <a:t>Budget to develop the firmware for the three boards:</a:t>
            </a:r>
          </a:p>
          <a:p>
            <a:endParaRPr lang="en-US" dirty="0"/>
          </a:p>
          <a:p>
            <a:r>
              <a:rPr lang="en-US" dirty="0"/>
              <a:t>Timeline/schedule:</a:t>
            </a:r>
          </a:p>
          <a:p>
            <a:endParaRPr lang="en-US" dirty="0"/>
          </a:p>
          <a:p>
            <a:r>
              <a:rPr lang="en-US" dirty="0"/>
              <a:t>Number of spins (different board prototypes) for the TX board, repeater/relay board and base station: </a:t>
            </a:r>
          </a:p>
          <a:p>
            <a:endParaRPr lang="en-US" dirty="0"/>
          </a:p>
          <a:p>
            <a:r>
              <a:rPr lang="en-US" dirty="0"/>
              <a:t>When is a good to communicate with you? </a:t>
            </a:r>
          </a:p>
          <a:p>
            <a:endParaRPr lang="en-US" dirty="0"/>
          </a:p>
          <a:p>
            <a:r>
              <a:rPr lang="en-US" dirty="0"/>
              <a:t>What is preferred system of communication? WhatsApp, teams?</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0663684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2388</TotalTime>
  <Words>972</Words>
  <Application>Microsoft Office PowerPoint</Application>
  <PresentationFormat>Widescreen</PresentationFormat>
  <Paragraphs>102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IoT Project with STM32WLE5CBU6 and STM32WB55</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Project with STM32WLE5CBU6 and STM32WB55 [PHASE 2]</dc:title>
  <dc:creator>William Aramendia</dc:creator>
  <cp:lastModifiedBy>Guillermo Aramendia</cp:lastModifiedBy>
  <cp:revision>33</cp:revision>
  <dcterms:created xsi:type="dcterms:W3CDTF">2023-11-07T01:06:30Z</dcterms:created>
  <dcterms:modified xsi:type="dcterms:W3CDTF">2024-11-13T05:16:20Z</dcterms:modified>
</cp:coreProperties>
</file>